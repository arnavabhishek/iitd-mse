
<file path=[Content_Types].xml><?xml version="1.0" encoding="utf-8"?>
<Types xmlns="http://schemas.openxmlformats.org/package/2006/content-types"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6" r:id="rId3"/>
  </p:sldMasterIdLst>
  <p:notesMasterIdLst>
    <p:notesMasterId r:id="rId26"/>
  </p:notesMasterIdLst>
  <p:sldIdLst>
    <p:sldId id="256" r:id="rId4"/>
    <p:sldId id="257" r:id="rId5"/>
    <p:sldId id="288" r:id="rId6"/>
    <p:sldId id="273" r:id="rId7"/>
    <p:sldId id="282" r:id="rId8"/>
    <p:sldId id="274" r:id="rId9"/>
    <p:sldId id="261" r:id="rId10"/>
    <p:sldId id="262" r:id="rId11"/>
    <p:sldId id="276" r:id="rId12"/>
    <p:sldId id="277" r:id="rId13"/>
    <p:sldId id="278" r:id="rId14"/>
    <p:sldId id="279" r:id="rId15"/>
    <p:sldId id="280" r:id="rId16"/>
    <p:sldId id="281" r:id="rId17"/>
    <p:sldId id="270" r:id="rId18"/>
    <p:sldId id="271" r:id="rId19"/>
    <p:sldId id="272" r:id="rId20"/>
    <p:sldId id="283" r:id="rId21"/>
    <p:sldId id="284" r:id="rId22"/>
    <p:sldId id="285" r:id="rId23"/>
    <p:sldId id="264" r:id="rId24"/>
    <p:sldId id="28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05"/>
    <p:restoredTop sz="94577"/>
  </p:normalViewPr>
  <p:slideViewPr>
    <p:cSldViewPr snapToGrid="0">
      <p:cViewPr varScale="1">
        <p:scale>
          <a:sx n="92" d="100"/>
          <a:sy n="92" d="100"/>
        </p:scale>
        <p:origin x="184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DCE3B-CF40-6A4D-A12B-1DB10262A5C2}" type="datetimeFigureOut">
              <a:rPr lang="en-US" smtClean="0"/>
              <a:t>8/7/25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E4E791-A126-EE47-A917-39D2B843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1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BABC5-C4BC-89E3-C52C-67CCEB08C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8A5BB-2E3A-B163-E38C-035EA6235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21A91-CF36-9350-7583-9A6D0938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7E3AA-EBF4-4899-A6DB-D5EC599E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180B4-6CCE-E719-AF5F-F29A6FFFB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89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E428-40A6-4613-0DB6-831463A77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35A06-6223-23E4-2087-D3B457D2D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B03B3-BEFA-05B6-07A7-8B3E5C43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31E4E-6724-6594-98E6-A340B997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A1766-8EA9-5810-2CBC-E5F90FD7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49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44AEA-121D-C50A-8119-5BDBCC480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11523-83BB-223A-AB00-4937485B2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2817E-B304-C5A2-A151-3FFE68E40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20D4F-3CD5-9485-1004-BD3A909F8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205D3-BDDA-D60B-2728-D71D66B4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5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FDA0F-8AF4-D356-C08F-50AD13C83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7212A-9F27-780E-F602-5A3AFD2EF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14263-184D-8932-7EDC-62CBF9842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66B7A-FE7A-77FD-BD6B-3A914C9F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44859-39B9-B505-961B-EF7BE447E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2C700-D3D2-CB09-CAF9-4686E146D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67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04E7-8DFB-85AF-BF84-07F221428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29489-97FB-35A9-3AA9-273C342B2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C9C07-4F79-F169-FEBB-04FD3FBC0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421568-7801-F463-D936-8704C90492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7F25A1-968C-6B44-044B-E9FE06545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550398-91F6-4C6D-E69A-443CF75FD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8/7/25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5FDCF-9692-1EDE-964C-299E74647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852F0E-4133-3187-B884-EAF7758CF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06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99B3-793B-6014-B39D-90F198B24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BADAB-FA37-221B-C596-02166BF0F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8/7/25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CFC5A-D285-1771-7F95-A42AC35A9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90BC7-1D12-CA6E-400A-7E12BB12E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75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860357-4B05-F871-F937-62688CC6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8/7/25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150FB-1448-B54D-16BA-63F7D580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D3D1A-6546-C4D3-17AF-605F5DC8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2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DF9A-53B2-E947-C19D-72D7AA2D9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FB8D9-0FEE-C912-9113-006CAD292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C11291-CD52-5962-39B4-24AF2A452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52481-7BCD-4C75-8432-8A98BA9D9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CF651-AAB2-BA2E-B94A-EC1AEE98B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1898D-6C73-10B2-CFC0-9F20D35E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34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B1F7-B4F6-0AA5-2B16-48E579218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73B7A7-7F7D-7082-8F09-1DC3F49763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BAB7D-13E1-BCC5-F9B9-F75D2232F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5B68F-1357-839F-188A-73367B6E5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BF6DB-048A-847C-BA6C-D6CEDB67C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CA52D-127D-9851-CA38-2B018798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7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6C587-7207-1DAB-3FEE-D272DA434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B3F22-FF6B-F8B8-12EE-870411E03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837E6-2F48-1291-708F-5D9E212DA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5B0AF-8170-0482-3E97-48201378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02D4B-0E57-7EB7-0EE5-E4BD93FF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21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6D7E4D-DE0B-6FF3-A823-55E8A30293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8B8C6-BCFF-8C11-3F51-03C8AF665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188E-862B-7154-EDE7-7F8A4CC82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9776B-F6D2-48DF-D116-598F0F09C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BD594-B033-A290-571E-0E5F144A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40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8051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7443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4828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27266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855344"/>
          </a:xfrm>
          <a:custGeom>
            <a:avLst/>
            <a:gdLst/>
            <a:ahLst/>
            <a:cxnLst/>
            <a:rect l="l" t="t" r="r" b="b"/>
            <a:pathLst>
              <a:path w="12192000" h="855344">
                <a:moveTo>
                  <a:pt x="12192000" y="0"/>
                </a:moveTo>
                <a:lnTo>
                  <a:pt x="0" y="0"/>
                </a:lnTo>
                <a:lnTo>
                  <a:pt x="0" y="854963"/>
                </a:lnTo>
                <a:lnTo>
                  <a:pt x="12192000" y="854963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3B4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0076" y="0"/>
            <a:ext cx="3201923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5538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6104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30724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93570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37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855344"/>
          </a:xfrm>
          <a:custGeom>
            <a:avLst/>
            <a:gdLst/>
            <a:ahLst/>
            <a:cxnLst/>
            <a:rect l="l" t="t" r="r" b="b"/>
            <a:pathLst>
              <a:path w="12192000" h="855344">
                <a:moveTo>
                  <a:pt x="12192000" y="0"/>
                </a:moveTo>
                <a:lnTo>
                  <a:pt x="0" y="0"/>
                </a:lnTo>
                <a:lnTo>
                  <a:pt x="0" y="854963"/>
                </a:lnTo>
                <a:lnTo>
                  <a:pt x="12192000" y="854963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3B4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0076" y="0"/>
            <a:ext cx="3201923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2172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5089D-7471-7759-FA60-15215A699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E784E-34BE-60F9-D707-B6DA2861E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A149B-8FB2-6CA0-52D6-C35AFEF8E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DF1B7-F736-994E-8871-601BB73E410F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B0A20-7840-3F95-0140-DB83CEC54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559C5-DED9-D81A-C8AA-432134E9C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7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855344"/>
          </a:xfrm>
          <a:custGeom>
            <a:avLst/>
            <a:gdLst/>
            <a:ahLst/>
            <a:cxnLst/>
            <a:rect l="l" t="t" r="r" b="b"/>
            <a:pathLst>
              <a:path w="12192000" h="855344">
                <a:moveTo>
                  <a:pt x="12192000" y="0"/>
                </a:moveTo>
                <a:lnTo>
                  <a:pt x="0" y="0"/>
                </a:lnTo>
                <a:lnTo>
                  <a:pt x="0" y="854963"/>
                </a:lnTo>
                <a:lnTo>
                  <a:pt x="12192000" y="854963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3B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29768"/>
            <a:ext cx="996696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6834" y="1064619"/>
            <a:ext cx="8281034" cy="2851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6019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855344"/>
          </a:xfrm>
          <a:custGeom>
            <a:avLst/>
            <a:gdLst/>
            <a:ahLst/>
            <a:cxnLst/>
            <a:rect l="l" t="t" r="r" b="b"/>
            <a:pathLst>
              <a:path w="12192000" h="855344">
                <a:moveTo>
                  <a:pt x="12192000" y="0"/>
                </a:moveTo>
                <a:lnTo>
                  <a:pt x="0" y="0"/>
                </a:lnTo>
                <a:lnTo>
                  <a:pt x="0" y="854963"/>
                </a:lnTo>
                <a:lnTo>
                  <a:pt x="12192000" y="854963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3B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29768"/>
            <a:ext cx="1033335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08852" y="1070610"/>
            <a:ext cx="5434330" cy="4515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1661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open.spotify.com/show/4ZQEna4EJroxLYteCserNG?nd=1" TargetMode="Externa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jpg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F26D0-6D32-B34A-F5BE-ADA09936A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614" y="408531"/>
            <a:ext cx="10308771" cy="1093334"/>
          </a:xfrm>
        </p:spPr>
        <p:txBody>
          <a:bodyPr/>
          <a:lstStyle/>
          <a:p>
            <a:r>
              <a:rPr lang="en-US" dirty="0"/>
              <a:t>MLL213: Materials Modelling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8CD02-2D1F-5C07-5985-61BEB101C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46505"/>
            <a:ext cx="9144000" cy="1655762"/>
          </a:xfrm>
        </p:spPr>
        <p:txBody>
          <a:bodyPr/>
          <a:lstStyle/>
          <a:p>
            <a:r>
              <a:rPr lang="en-US" sz="2800" dirty="0"/>
              <a:t>Prof N S </a:t>
            </a:r>
            <a:r>
              <a:rPr lang="en-US" sz="2800" u="sng" dirty="0">
                <a:solidFill>
                  <a:srgbClr val="FF0000"/>
                </a:solidFill>
              </a:rPr>
              <a:t>Harsha</a:t>
            </a:r>
            <a:r>
              <a:rPr lang="en-US" sz="2800" dirty="0"/>
              <a:t> </a:t>
            </a:r>
            <a:r>
              <a:rPr lang="en-US" sz="2800" dirty="0" err="1"/>
              <a:t>Gunda</a:t>
            </a:r>
            <a:endParaRPr lang="en-US" sz="2800" dirty="0"/>
          </a:p>
          <a:p>
            <a:r>
              <a:rPr lang="en-US" dirty="0"/>
              <a:t>Department of Materials Science and Engineering</a:t>
            </a:r>
          </a:p>
          <a:p>
            <a:r>
              <a:rPr lang="en-US" dirty="0"/>
              <a:t>IIT Delhi</a:t>
            </a:r>
          </a:p>
          <a:p>
            <a:endParaRPr lang="en-US" dirty="0"/>
          </a:p>
        </p:txBody>
      </p:sp>
      <p:pic>
        <p:nvPicPr>
          <p:cNvPr id="1028" name="Picture 4" descr="Materials across the length scales.">
            <a:extLst>
              <a:ext uri="{FF2B5EF4-FFF2-40B4-BE49-F238E27FC236}">
                <a16:creationId xmlns:a16="http://schemas.microsoft.com/office/drawing/2014/main" id="{3F18DE27-CFA5-84BA-2A89-7C7E04145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04" y="2930488"/>
            <a:ext cx="4901066" cy="367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13B540-7364-D225-CB08-9F01DD87EF67}"/>
              </a:ext>
            </a:extLst>
          </p:cNvPr>
          <p:cNvSpPr txBox="1"/>
          <p:nvPr/>
        </p:nvSpPr>
        <p:spPr>
          <a:xfrm>
            <a:off x="6286564" y="512720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Office: 306H, Academic Complex West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78C48C-96E5-146A-0AD0-B04B36EC64F8}"/>
              </a:ext>
            </a:extLst>
          </p:cNvPr>
          <p:cNvSpPr txBox="1"/>
          <p:nvPr/>
        </p:nvSpPr>
        <p:spPr>
          <a:xfrm>
            <a:off x="6286564" y="5649250"/>
            <a:ext cx="545374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Email: </a:t>
            </a:r>
            <a:r>
              <a:rPr lang="en-US" sz="2800" dirty="0" err="1"/>
              <a:t>gnsharsha@iitd.ac.in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48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29768"/>
            <a:ext cx="47936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Materialism</a:t>
            </a:r>
            <a:r>
              <a:rPr spc="-240" dirty="0"/>
              <a:t> </a:t>
            </a:r>
            <a:r>
              <a:rPr spc="-160" dirty="0">
                <a:solidFill>
                  <a:srgbClr val="F8CAAC"/>
                </a:solidFill>
              </a:rPr>
              <a:t>Podcast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308851" y="1070610"/>
            <a:ext cx="5743601" cy="5026441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196850" indent="-228600" algn="just">
              <a:lnSpc>
                <a:spcPct val="70000"/>
              </a:lnSpc>
              <a:spcBef>
                <a:spcPts val="885"/>
              </a:spcBef>
              <a:buChar char="•"/>
              <a:tabLst>
                <a:tab pos="241300" algn="l"/>
              </a:tabLst>
            </a:pPr>
            <a:r>
              <a:rPr sz="2400" kern="1200" dirty="0">
                <a:latin typeface="Arial" panose="020B0604020202020204" pitchFamily="34" charset="0"/>
                <a:cs typeface="Arial" panose="020B0604020202020204" pitchFamily="34" charset="0"/>
              </a:rPr>
              <a:t>In this podcast, Taylor and Andrew investigate the past, present, and future of materials science and engineering. Topic areas ranging from cutting</a:t>
            </a:r>
            <a:r>
              <a:rPr lang="en-US" sz="2400" kern="12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400" kern="1200" dirty="0">
                <a:latin typeface="Arial" panose="020B0604020202020204" pitchFamily="34" charset="0"/>
                <a:cs typeface="Arial" panose="020B0604020202020204" pitchFamily="34" charset="0"/>
              </a:rPr>
              <a:t>edge materials</a:t>
            </a:r>
            <a:r>
              <a:rPr lang="en-US" sz="2400" kern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kern="1200" dirty="0">
                <a:latin typeface="Arial" panose="020B0604020202020204" pitchFamily="34" charset="0"/>
                <a:cs typeface="Arial" panose="020B0604020202020204" pitchFamily="34" charset="0"/>
              </a:rPr>
              <a:t>technology, the history of different materials, the commercialization of new materials, and exciting advances in processing and characterization are all covered in detail.</a:t>
            </a: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pc="-10" dirty="0"/>
          </a:p>
          <a:p>
            <a:pPr marL="12700" marR="308610">
              <a:lnSpc>
                <a:spcPct val="70000"/>
              </a:lnSpc>
            </a:pPr>
            <a:r>
              <a:rPr spc="-10" dirty="0"/>
              <a:t>Website: </a:t>
            </a:r>
            <a:r>
              <a:rPr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"/>
              </a:rPr>
              <a:t>https://materialismpodcast.com/index.html</a:t>
            </a: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u="sng" spc="-30" dirty="0">
              <a:solidFill>
                <a:srgbClr val="0462C1"/>
              </a:solidFill>
              <a:uFill>
                <a:solidFill>
                  <a:srgbClr val="0462C1"/>
                </a:solidFill>
              </a:uFill>
              <a:hlinkClick r:id=""/>
            </a:endParaRPr>
          </a:p>
          <a:p>
            <a:pPr marL="12700">
              <a:lnSpc>
                <a:spcPct val="100000"/>
              </a:lnSpc>
            </a:pPr>
            <a:r>
              <a:rPr spc="-10" dirty="0"/>
              <a:t>Spotify:</a:t>
            </a:r>
          </a:p>
          <a:p>
            <a:pPr marL="12700" marR="5080">
              <a:lnSpc>
                <a:spcPct val="70000"/>
              </a:lnSpc>
              <a:spcBef>
                <a:spcPts val="1000"/>
              </a:spcBef>
            </a:pPr>
            <a:r>
              <a:rPr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https://open.spotify.com/show/4ZQEna4EJro</a:t>
            </a:r>
            <a:r>
              <a:rPr spc="-25" dirty="0">
                <a:solidFill>
                  <a:srgbClr val="0462C1"/>
                </a:solidFill>
              </a:rPr>
              <a:t> </a:t>
            </a:r>
            <a:r>
              <a:rPr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xLYteCserNG?nd=1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4131" y="1046988"/>
            <a:ext cx="5553456" cy="5553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D34D6-7DEF-5C2A-AD10-69470679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36334"/>
            <a:ext cx="10333355" cy="697230"/>
          </a:xfrm>
        </p:spPr>
        <p:txBody>
          <a:bodyPr/>
          <a:lstStyle/>
          <a:p>
            <a:r>
              <a:rPr lang="en-US" dirty="0"/>
              <a:t>Molecular Dynamics</a:t>
            </a:r>
          </a:p>
        </p:txBody>
      </p:sp>
      <p:pic>
        <p:nvPicPr>
          <p:cNvPr id="4" name="WhatsApp Video 2024-08-09 at 10.22.40">
            <a:hlinkClick r:id="" action="ppaction://media"/>
            <a:extLst>
              <a:ext uri="{FF2B5EF4-FFF2-40B4-BE49-F238E27FC236}">
                <a16:creationId xmlns:a16="http://schemas.microsoft.com/office/drawing/2014/main" id="{C6D0AA73-45C1-9B90-A024-D70693988B0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28481" t="11105" r="27268" b="7476"/>
          <a:stretch/>
        </p:blipFill>
        <p:spPr>
          <a:xfrm>
            <a:off x="199221" y="2060154"/>
            <a:ext cx="4765713" cy="47978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791C97-3C77-34B7-A9C0-4CADE71B5B6A}"/>
              </a:ext>
            </a:extLst>
          </p:cNvPr>
          <p:cNvSpPr txBox="1"/>
          <p:nvPr/>
        </p:nvSpPr>
        <p:spPr>
          <a:xfrm>
            <a:off x="8897039" y="171368"/>
            <a:ext cx="2875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Atomistic Simulations</a:t>
            </a:r>
          </a:p>
        </p:txBody>
      </p:sp>
      <p:pic>
        <p:nvPicPr>
          <p:cNvPr id="6" name="Picture 2" descr="Metals 10 01660 g001 550">
            <a:extLst>
              <a:ext uri="{FF2B5EF4-FFF2-40B4-BE49-F238E27FC236}">
                <a16:creationId xmlns:a16="http://schemas.microsoft.com/office/drawing/2014/main" id="{CFCF672F-5930-D0BC-AF68-D6536EDCB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665" y="1620039"/>
            <a:ext cx="5183742" cy="5108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32BA8C-3973-9625-839B-CC0AF6B293B9}"/>
              </a:ext>
            </a:extLst>
          </p:cNvPr>
          <p:cNvSpPr txBox="1"/>
          <p:nvPr/>
        </p:nvSpPr>
        <p:spPr>
          <a:xfrm>
            <a:off x="2855778" y="1494002"/>
            <a:ext cx="101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 = ma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9D31B-051E-6211-B83A-8477D72A942C}"/>
              </a:ext>
            </a:extLst>
          </p:cNvPr>
          <p:cNvSpPr txBox="1"/>
          <p:nvPr/>
        </p:nvSpPr>
        <p:spPr>
          <a:xfrm>
            <a:off x="454316" y="1521851"/>
            <a:ext cx="2262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Newtonian mechanics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16CDA9-5F4F-F015-B083-087EF33AC1A6}"/>
              </a:ext>
            </a:extLst>
          </p:cNvPr>
          <p:cNvSpPr txBox="1"/>
          <p:nvPr/>
        </p:nvSpPr>
        <p:spPr>
          <a:xfrm>
            <a:off x="4978094" y="6255746"/>
            <a:ext cx="3602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Simulate millions of atoms at a time.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E62BF6-1ECD-FEFD-92F1-32EC8A358085}"/>
              </a:ext>
            </a:extLst>
          </p:cNvPr>
          <p:cNvSpPr txBox="1"/>
          <p:nvPr/>
        </p:nvSpPr>
        <p:spPr>
          <a:xfrm>
            <a:off x="4005039" y="1166222"/>
            <a:ext cx="2224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 atomic potential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8E4995-1E60-E45B-62C1-0D4FA35FAA30}"/>
              </a:ext>
            </a:extLst>
          </p:cNvPr>
          <p:cNvCxnSpPr>
            <a:cxnSpLocks/>
          </p:cNvCxnSpPr>
          <p:nvPr/>
        </p:nvCxnSpPr>
        <p:spPr>
          <a:xfrm flipH="1">
            <a:off x="3071640" y="1369205"/>
            <a:ext cx="794351" cy="218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86974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65" dirty="0"/>
              <a:t>MD</a:t>
            </a:r>
            <a:r>
              <a:rPr spc="225" dirty="0"/>
              <a:t> </a:t>
            </a:r>
            <a:r>
              <a:rPr spc="-110" dirty="0"/>
              <a:t>Implementation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2354" y="1147317"/>
            <a:ext cx="1379855" cy="1965325"/>
            <a:chOff x="292354" y="1147317"/>
            <a:chExt cx="1379855" cy="1965325"/>
          </a:xfrm>
        </p:grpSpPr>
        <p:sp>
          <p:nvSpPr>
            <p:cNvPr id="4" name="object 4"/>
            <p:cNvSpPr/>
            <p:nvPr/>
          </p:nvSpPr>
          <p:spPr>
            <a:xfrm>
              <a:off x="298704" y="1153667"/>
              <a:ext cx="1367155" cy="1952625"/>
            </a:xfrm>
            <a:custGeom>
              <a:avLst/>
              <a:gdLst/>
              <a:ahLst/>
              <a:cxnLst/>
              <a:rect l="l" t="t" r="r" b="b"/>
              <a:pathLst>
                <a:path w="1367155" h="1952625">
                  <a:moveTo>
                    <a:pt x="1367028" y="0"/>
                  </a:moveTo>
                  <a:lnTo>
                    <a:pt x="683514" y="683514"/>
                  </a:lnTo>
                  <a:lnTo>
                    <a:pt x="0" y="0"/>
                  </a:lnTo>
                  <a:lnTo>
                    <a:pt x="0" y="1268730"/>
                  </a:lnTo>
                  <a:lnTo>
                    <a:pt x="683514" y="1952244"/>
                  </a:lnTo>
                  <a:lnTo>
                    <a:pt x="1367028" y="1268730"/>
                  </a:lnTo>
                  <a:lnTo>
                    <a:pt x="1367028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98704" y="1153667"/>
              <a:ext cx="1367155" cy="1952625"/>
            </a:xfrm>
            <a:custGeom>
              <a:avLst/>
              <a:gdLst/>
              <a:ahLst/>
              <a:cxnLst/>
              <a:rect l="l" t="t" r="r" b="b"/>
              <a:pathLst>
                <a:path w="1367155" h="1952625">
                  <a:moveTo>
                    <a:pt x="1367028" y="0"/>
                  </a:moveTo>
                  <a:lnTo>
                    <a:pt x="1367028" y="1268730"/>
                  </a:lnTo>
                  <a:lnTo>
                    <a:pt x="683514" y="1952244"/>
                  </a:lnTo>
                  <a:lnTo>
                    <a:pt x="0" y="1268730"/>
                  </a:lnTo>
                  <a:lnTo>
                    <a:pt x="0" y="0"/>
                  </a:lnTo>
                  <a:lnTo>
                    <a:pt x="683514" y="683514"/>
                  </a:lnTo>
                  <a:lnTo>
                    <a:pt x="1367028" y="0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07949" y="1820621"/>
            <a:ext cx="134747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0" cap="none" spc="-45" normalizeH="0" baseline="0" noProof="0" dirty="0">
                <a:ln>
                  <a:noFill/>
                </a:ln>
                <a:solidFill>
                  <a:srgbClr val="F9EEDE"/>
                </a:solidFill>
                <a:effectLst/>
                <a:uLnTx/>
                <a:uFillTx/>
                <a:latin typeface="Arial"/>
                <a:cs typeface="Arial"/>
              </a:rPr>
              <a:t>Initialize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65732" y="1153667"/>
            <a:ext cx="10231120" cy="1270000"/>
          </a:xfrm>
          <a:custGeom>
            <a:avLst/>
            <a:gdLst/>
            <a:ahLst/>
            <a:cxnLst/>
            <a:rect l="l" t="t" r="r" b="b"/>
            <a:pathLst>
              <a:path w="10231120" h="1270000">
                <a:moveTo>
                  <a:pt x="10230612" y="211582"/>
                </a:moveTo>
                <a:lnTo>
                  <a:pt x="10230612" y="1057910"/>
                </a:lnTo>
                <a:lnTo>
                  <a:pt x="10225023" y="1106419"/>
                </a:lnTo>
                <a:lnTo>
                  <a:pt x="10209104" y="1150952"/>
                </a:lnTo>
                <a:lnTo>
                  <a:pt x="10184125" y="1190238"/>
                </a:lnTo>
                <a:lnTo>
                  <a:pt x="10151358" y="1223005"/>
                </a:lnTo>
                <a:lnTo>
                  <a:pt x="10112072" y="1247984"/>
                </a:lnTo>
                <a:lnTo>
                  <a:pt x="10067539" y="1263903"/>
                </a:lnTo>
                <a:lnTo>
                  <a:pt x="10019030" y="1269492"/>
                </a:lnTo>
                <a:lnTo>
                  <a:pt x="0" y="1269492"/>
                </a:lnTo>
                <a:lnTo>
                  <a:pt x="0" y="0"/>
                </a:lnTo>
                <a:lnTo>
                  <a:pt x="10019030" y="0"/>
                </a:lnTo>
                <a:lnTo>
                  <a:pt x="10067539" y="5588"/>
                </a:lnTo>
                <a:lnTo>
                  <a:pt x="10112072" y="21507"/>
                </a:lnTo>
                <a:lnTo>
                  <a:pt x="10151358" y="46486"/>
                </a:lnTo>
                <a:lnTo>
                  <a:pt x="10184125" y="79253"/>
                </a:lnTo>
                <a:lnTo>
                  <a:pt x="10209104" y="118539"/>
                </a:lnTo>
                <a:lnTo>
                  <a:pt x="10225023" y="163072"/>
                </a:lnTo>
                <a:lnTo>
                  <a:pt x="10230612" y="211582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66442" y="1175500"/>
            <a:ext cx="2294255" cy="112204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84785" marR="0" lvl="0" indent="-172085" defTabSz="914400" eaLnBrk="1" fontAlgn="auto" latinLnBrk="0" hangingPunct="1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785" algn="l"/>
              </a:tabLst>
              <a:defRPr/>
            </a:pP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Assign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particle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positions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84785" marR="0" lvl="0" indent="-172085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785" algn="l"/>
              </a:tabLst>
              <a:defRPr/>
            </a:pP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Assign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particle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velocities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84785" marR="0" lvl="0" indent="-172085" defTabSz="91440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785" algn="l"/>
              </a:tabLst>
              <a:defRPr/>
            </a:pPr>
            <a:r>
              <a:rPr kumimoji="0" sz="16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Specify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type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ensemble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84785" marR="0" lvl="0" indent="-172085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785" algn="l"/>
              </a:tabLst>
              <a:defRPr/>
            </a:pPr>
            <a:r>
              <a:rPr kumimoji="0" sz="16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Specify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potential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92354" y="2909061"/>
            <a:ext cx="1379855" cy="1965325"/>
            <a:chOff x="292354" y="2909061"/>
            <a:chExt cx="1379855" cy="1965325"/>
          </a:xfrm>
        </p:grpSpPr>
        <p:sp>
          <p:nvSpPr>
            <p:cNvPr id="10" name="object 10"/>
            <p:cNvSpPr/>
            <p:nvPr/>
          </p:nvSpPr>
          <p:spPr>
            <a:xfrm>
              <a:off x="298704" y="2915411"/>
              <a:ext cx="1367155" cy="1952625"/>
            </a:xfrm>
            <a:custGeom>
              <a:avLst/>
              <a:gdLst/>
              <a:ahLst/>
              <a:cxnLst/>
              <a:rect l="l" t="t" r="r" b="b"/>
              <a:pathLst>
                <a:path w="1367155" h="1952625">
                  <a:moveTo>
                    <a:pt x="1367028" y="0"/>
                  </a:moveTo>
                  <a:lnTo>
                    <a:pt x="683514" y="683513"/>
                  </a:lnTo>
                  <a:lnTo>
                    <a:pt x="0" y="0"/>
                  </a:lnTo>
                  <a:lnTo>
                    <a:pt x="0" y="1268730"/>
                  </a:lnTo>
                  <a:lnTo>
                    <a:pt x="683514" y="1952244"/>
                  </a:lnTo>
                  <a:lnTo>
                    <a:pt x="1367028" y="1268730"/>
                  </a:lnTo>
                  <a:lnTo>
                    <a:pt x="1367028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98704" y="2915411"/>
              <a:ext cx="1367155" cy="1952625"/>
            </a:xfrm>
            <a:custGeom>
              <a:avLst/>
              <a:gdLst/>
              <a:ahLst/>
              <a:cxnLst/>
              <a:rect l="l" t="t" r="r" b="b"/>
              <a:pathLst>
                <a:path w="1367155" h="1952625">
                  <a:moveTo>
                    <a:pt x="1367028" y="0"/>
                  </a:moveTo>
                  <a:lnTo>
                    <a:pt x="1367028" y="1268730"/>
                  </a:lnTo>
                  <a:lnTo>
                    <a:pt x="683514" y="1952244"/>
                  </a:lnTo>
                  <a:lnTo>
                    <a:pt x="0" y="1268730"/>
                  </a:lnTo>
                  <a:lnTo>
                    <a:pt x="0" y="0"/>
                  </a:lnTo>
                  <a:lnTo>
                    <a:pt x="683514" y="683513"/>
                  </a:lnTo>
                  <a:lnTo>
                    <a:pt x="1367028" y="0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49325" y="3582365"/>
            <a:ext cx="66484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0" cap="none" spc="-140" normalizeH="0" baseline="0" noProof="0" dirty="0">
                <a:ln>
                  <a:noFill/>
                </a:ln>
                <a:solidFill>
                  <a:srgbClr val="F9EEDE"/>
                </a:solidFill>
                <a:effectLst/>
                <a:uLnTx/>
                <a:uFillTx/>
                <a:latin typeface="Arial"/>
                <a:cs typeface="Arial"/>
              </a:rPr>
              <a:t>Run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2354" y="2951733"/>
            <a:ext cx="11610340" cy="3683000"/>
            <a:chOff x="292354" y="2951733"/>
            <a:chExt cx="11610340" cy="3683000"/>
          </a:xfrm>
        </p:grpSpPr>
        <p:sp>
          <p:nvSpPr>
            <p:cNvPr id="14" name="object 14"/>
            <p:cNvSpPr/>
            <p:nvPr/>
          </p:nvSpPr>
          <p:spPr>
            <a:xfrm>
              <a:off x="1665731" y="2958083"/>
              <a:ext cx="10231120" cy="1183005"/>
            </a:xfrm>
            <a:custGeom>
              <a:avLst/>
              <a:gdLst/>
              <a:ahLst/>
              <a:cxnLst/>
              <a:rect l="l" t="t" r="r" b="b"/>
              <a:pathLst>
                <a:path w="10231120" h="1183004">
                  <a:moveTo>
                    <a:pt x="10230612" y="197103"/>
                  </a:moveTo>
                  <a:lnTo>
                    <a:pt x="10230612" y="985519"/>
                  </a:lnTo>
                  <a:lnTo>
                    <a:pt x="10225405" y="1030708"/>
                  </a:lnTo>
                  <a:lnTo>
                    <a:pt x="10210574" y="1072193"/>
                  </a:lnTo>
                  <a:lnTo>
                    <a:pt x="10187304" y="1108790"/>
                  </a:lnTo>
                  <a:lnTo>
                    <a:pt x="10156778" y="1139316"/>
                  </a:lnTo>
                  <a:lnTo>
                    <a:pt x="10120181" y="1162586"/>
                  </a:lnTo>
                  <a:lnTo>
                    <a:pt x="10078696" y="1177417"/>
                  </a:lnTo>
                  <a:lnTo>
                    <a:pt x="10033508" y="1182623"/>
                  </a:lnTo>
                  <a:lnTo>
                    <a:pt x="0" y="1182623"/>
                  </a:lnTo>
                  <a:lnTo>
                    <a:pt x="0" y="0"/>
                  </a:lnTo>
                  <a:lnTo>
                    <a:pt x="10033508" y="0"/>
                  </a:lnTo>
                  <a:lnTo>
                    <a:pt x="10078696" y="5206"/>
                  </a:lnTo>
                  <a:lnTo>
                    <a:pt x="10120181" y="20037"/>
                  </a:lnTo>
                  <a:lnTo>
                    <a:pt x="10156778" y="43307"/>
                  </a:lnTo>
                  <a:lnTo>
                    <a:pt x="10187304" y="73833"/>
                  </a:lnTo>
                  <a:lnTo>
                    <a:pt x="10210574" y="110430"/>
                  </a:lnTo>
                  <a:lnTo>
                    <a:pt x="10225405" y="151915"/>
                  </a:lnTo>
                  <a:lnTo>
                    <a:pt x="10230612" y="197103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98704" y="4675632"/>
              <a:ext cx="1367155" cy="1952625"/>
            </a:xfrm>
            <a:custGeom>
              <a:avLst/>
              <a:gdLst/>
              <a:ahLst/>
              <a:cxnLst/>
              <a:rect l="l" t="t" r="r" b="b"/>
              <a:pathLst>
                <a:path w="1367155" h="1952625">
                  <a:moveTo>
                    <a:pt x="1367028" y="0"/>
                  </a:moveTo>
                  <a:lnTo>
                    <a:pt x="683514" y="683514"/>
                  </a:lnTo>
                  <a:lnTo>
                    <a:pt x="0" y="0"/>
                  </a:lnTo>
                  <a:lnTo>
                    <a:pt x="0" y="1268730"/>
                  </a:lnTo>
                  <a:lnTo>
                    <a:pt x="683514" y="1952244"/>
                  </a:lnTo>
                  <a:lnTo>
                    <a:pt x="1367028" y="1268730"/>
                  </a:lnTo>
                  <a:lnTo>
                    <a:pt x="1367028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98704" y="4675632"/>
              <a:ext cx="1367155" cy="1952625"/>
            </a:xfrm>
            <a:custGeom>
              <a:avLst/>
              <a:gdLst/>
              <a:ahLst/>
              <a:cxnLst/>
              <a:rect l="l" t="t" r="r" b="b"/>
              <a:pathLst>
                <a:path w="1367155" h="1952625">
                  <a:moveTo>
                    <a:pt x="1367028" y="0"/>
                  </a:moveTo>
                  <a:lnTo>
                    <a:pt x="1367028" y="1268730"/>
                  </a:lnTo>
                  <a:lnTo>
                    <a:pt x="683514" y="1952244"/>
                  </a:lnTo>
                  <a:lnTo>
                    <a:pt x="0" y="1268730"/>
                  </a:lnTo>
                  <a:lnTo>
                    <a:pt x="0" y="0"/>
                  </a:lnTo>
                  <a:lnTo>
                    <a:pt x="683514" y="683514"/>
                  </a:lnTo>
                  <a:lnTo>
                    <a:pt x="1367028" y="0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1289" y="5344464"/>
            <a:ext cx="12414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0" cap="none" spc="-155" normalizeH="0" baseline="0" noProof="0" dirty="0">
                <a:ln>
                  <a:noFill/>
                </a:ln>
                <a:solidFill>
                  <a:srgbClr val="F9EEDE"/>
                </a:solidFill>
                <a:effectLst/>
                <a:uLnTx/>
                <a:uFillTx/>
                <a:latin typeface="Arial"/>
                <a:cs typeface="Arial"/>
              </a:rPr>
              <a:t>Analyse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65732" y="4675632"/>
            <a:ext cx="10231120" cy="1270000"/>
          </a:xfrm>
          <a:custGeom>
            <a:avLst/>
            <a:gdLst/>
            <a:ahLst/>
            <a:cxnLst/>
            <a:rect l="l" t="t" r="r" b="b"/>
            <a:pathLst>
              <a:path w="10231120" h="1270000">
                <a:moveTo>
                  <a:pt x="10230612" y="211582"/>
                </a:moveTo>
                <a:lnTo>
                  <a:pt x="10230612" y="1057910"/>
                </a:lnTo>
                <a:lnTo>
                  <a:pt x="10225023" y="1106423"/>
                </a:lnTo>
                <a:lnTo>
                  <a:pt x="10209104" y="1150958"/>
                </a:lnTo>
                <a:lnTo>
                  <a:pt x="10184125" y="1190243"/>
                </a:lnTo>
                <a:lnTo>
                  <a:pt x="10151358" y="1223009"/>
                </a:lnTo>
                <a:lnTo>
                  <a:pt x="10112072" y="1247986"/>
                </a:lnTo>
                <a:lnTo>
                  <a:pt x="10067539" y="1263903"/>
                </a:lnTo>
                <a:lnTo>
                  <a:pt x="10019030" y="1269492"/>
                </a:lnTo>
                <a:lnTo>
                  <a:pt x="0" y="1269492"/>
                </a:lnTo>
                <a:lnTo>
                  <a:pt x="0" y="0"/>
                </a:lnTo>
                <a:lnTo>
                  <a:pt x="10019030" y="0"/>
                </a:lnTo>
                <a:lnTo>
                  <a:pt x="10067539" y="5588"/>
                </a:lnTo>
                <a:lnTo>
                  <a:pt x="10112072" y="21507"/>
                </a:lnTo>
                <a:lnTo>
                  <a:pt x="10151358" y="46486"/>
                </a:lnTo>
                <a:lnTo>
                  <a:pt x="10184125" y="79253"/>
                </a:lnTo>
                <a:lnTo>
                  <a:pt x="10209104" y="118539"/>
                </a:lnTo>
                <a:lnTo>
                  <a:pt x="10225023" y="163072"/>
                </a:lnTo>
                <a:lnTo>
                  <a:pt x="10230612" y="211582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66442" y="4973853"/>
            <a:ext cx="4656455" cy="5740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84785" marR="0" lvl="0" indent="-17208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785" algn="l"/>
              </a:tabLst>
              <a:defRPr/>
            </a:pPr>
            <a:r>
              <a:rPr kumimoji="0" sz="16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Use</a:t>
            </a:r>
            <a:r>
              <a:rPr kumimoji="0" sz="16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6N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variables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 </a:t>
            </a:r>
            <a:r>
              <a:rPr kumimoji="0" sz="16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evaluate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properties</a:t>
            </a:r>
            <a:r>
              <a:rPr kumimoji="0" sz="16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visualize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84785" marR="0" lvl="0" indent="-172085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785" algn="l"/>
              </a:tabLst>
              <a:defRPr/>
            </a:pPr>
            <a:r>
              <a:rPr kumimoji="0" sz="16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Average</a:t>
            </a:r>
            <a:r>
              <a:rPr kumimoji="0" sz="16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properties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868170" y="3023106"/>
            <a:ext cx="3545840" cy="835660"/>
            <a:chOff x="1868170" y="2934970"/>
            <a:chExt cx="3545840" cy="835660"/>
          </a:xfrm>
        </p:grpSpPr>
        <p:sp>
          <p:nvSpPr>
            <p:cNvPr id="21" name="object 21"/>
            <p:cNvSpPr/>
            <p:nvPr/>
          </p:nvSpPr>
          <p:spPr>
            <a:xfrm>
              <a:off x="1874520" y="2941320"/>
              <a:ext cx="3533140" cy="822960"/>
            </a:xfrm>
            <a:custGeom>
              <a:avLst/>
              <a:gdLst/>
              <a:ahLst/>
              <a:cxnLst/>
              <a:rect l="l" t="t" r="r" b="b"/>
              <a:pathLst>
                <a:path w="3533140" h="822960">
                  <a:moveTo>
                    <a:pt x="3395472" y="0"/>
                  </a:moveTo>
                  <a:lnTo>
                    <a:pt x="137160" y="0"/>
                  </a:lnTo>
                  <a:lnTo>
                    <a:pt x="93829" y="6998"/>
                  </a:lnTo>
                  <a:lnTo>
                    <a:pt x="56180" y="26481"/>
                  </a:lnTo>
                  <a:lnTo>
                    <a:pt x="26481" y="56180"/>
                  </a:lnTo>
                  <a:lnTo>
                    <a:pt x="6998" y="93829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6998" y="729130"/>
                  </a:lnTo>
                  <a:lnTo>
                    <a:pt x="26481" y="766779"/>
                  </a:lnTo>
                  <a:lnTo>
                    <a:pt x="56180" y="796478"/>
                  </a:lnTo>
                  <a:lnTo>
                    <a:pt x="93829" y="815961"/>
                  </a:lnTo>
                  <a:lnTo>
                    <a:pt x="137160" y="822959"/>
                  </a:lnTo>
                  <a:lnTo>
                    <a:pt x="3395472" y="822959"/>
                  </a:lnTo>
                  <a:lnTo>
                    <a:pt x="3438802" y="815961"/>
                  </a:lnTo>
                  <a:lnTo>
                    <a:pt x="3476451" y="796478"/>
                  </a:lnTo>
                  <a:lnTo>
                    <a:pt x="3506150" y="766779"/>
                  </a:lnTo>
                  <a:lnTo>
                    <a:pt x="3525633" y="729130"/>
                  </a:lnTo>
                  <a:lnTo>
                    <a:pt x="3532631" y="685799"/>
                  </a:lnTo>
                  <a:lnTo>
                    <a:pt x="3532631" y="137159"/>
                  </a:lnTo>
                  <a:lnTo>
                    <a:pt x="3525633" y="93829"/>
                  </a:lnTo>
                  <a:lnTo>
                    <a:pt x="3506150" y="56180"/>
                  </a:lnTo>
                  <a:lnTo>
                    <a:pt x="3476451" y="26481"/>
                  </a:lnTo>
                  <a:lnTo>
                    <a:pt x="3438802" y="6998"/>
                  </a:lnTo>
                  <a:lnTo>
                    <a:pt x="3395472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874520" y="2941320"/>
              <a:ext cx="3533140" cy="822960"/>
            </a:xfrm>
            <a:custGeom>
              <a:avLst/>
              <a:gdLst/>
              <a:ahLst/>
              <a:cxnLst/>
              <a:rect l="l" t="t" r="r" b="b"/>
              <a:pathLst>
                <a:path w="3533140" h="822960">
                  <a:moveTo>
                    <a:pt x="0" y="137159"/>
                  </a:moveTo>
                  <a:lnTo>
                    <a:pt x="6998" y="93829"/>
                  </a:lnTo>
                  <a:lnTo>
                    <a:pt x="26481" y="56180"/>
                  </a:lnTo>
                  <a:lnTo>
                    <a:pt x="56180" y="26481"/>
                  </a:lnTo>
                  <a:lnTo>
                    <a:pt x="93829" y="6998"/>
                  </a:lnTo>
                  <a:lnTo>
                    <a:pt x="137160" y="0"/>
                  </a:lnTo>
                  <a:lnTo>
                    <a:pt x="3395472" y="0"/>
                  </a:lnTo>
                  <a:lnTo>
                    <a:pt x="3438802" y="6998"/>
                  </a:lnTo>
                  <a:lnTo>
                    <a:pt x="3476451" y="26481"/>
                  </a:lnTo>
                  <a:lnTo>
                    <a:pt x="3506150" y="56180"/>
                  </a:lnTo>
                  <a:lnTo>
                    <a:pt x="3525633" y="93829"/>
                  </a:lnTo>
                  <a:lnTo>
                    <a:pt x="3532631" y="137159"/>
                  </a:lnTo>
                  <a:lnTo>
                    <a:pt x="3532631" y="685799"/>
                  </a:lnTo>
                  <a:lnTo>
                    <a:pt x="3525633" y="729130"/>
                  </a:lnTo>
                  <a:lnTo>
                    <a:pt x="3506150" y="766779"/>
                  </a:lnTo>
                  <a:lnTo>
                    <a:pt x="3476451" y="796478"/>
                  </a:lnTo>
                  <a:lnTo>
                    <a:pt x="3438802" y="815961"/>
                  </a:lnTo>
                  <a:lnTo>
                    <a:pt x="3395472" y="822959"/>
                  </a:lnTo>
                  <a:lnTo>
                    <a:pt x="137160" y="822959"/>
                  </a:lnTo>
                  <a:lnTo>
                    <a:pt x="93829" y="815961"/>
                  </a:lnTo>
                  <a:lnTo>
                    <a:pt x="56180" y="796478"/>
                  </a:lnTo>
                  <a:lnTo>
                    <a:pt x="26481" y="766779"/>
                  </a:lnTo>
                  <a:lnTo>
                    <a:pt x="6998" y="729130"/>
                  </a:lnTo>
                  <a:lnTo>
                    <a:pt x="0" y="685799"/>
                  </a:lnTo>
                  <a:lnTo>
                    <a:pt x="0" y="13715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160270" y="3121276"/>
            <a:ext cx="2962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9980" marR="5080" lvl="0" indent="-109791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Force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calculation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using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current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position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537450" y="3012089"/>
            <a:ext cx="3545840" cy="835660"/>
            <a:chOff x="7537450" y="2934970"/>
            <a:chExt cx="3545840" cy="835660"/>
          </a:xfrm>
        </p:grpSpPr>
        <p:sp>
          <p:nvSpPr>
            <p:cNvPr id="25" name="object 25"/>
            <p:cNvSpPr/>
            <p:nvPr/>
          </p:nvSpPr>
          <p:spPr>
            <a:xfrm>
              <a:off x="7543800" y="2941320"/>
              <a:ext cx="3533140" cy="822960"/>
            </a:xfrm>
            <a:custGeom>
              <a:avLst/>
              <a:gdLst/>
              <a:ahLst/>
              <a:cxnLst/>
              <a:rect l="l" t="t" r="r" b="b"/>
              <a:pathLst>
                <a:path w="3533140" h="822960">
                  <a:moveTo>
                    <a:pt x="3395472" y="0"/>
                  </a:moveTo>
                  <a:lnTo>
                    <a:pt x="137159" y="0"/>
                  </a:lnTo>
                  <a:lnTo>
                    <a:pt x="93829" y="6998"/>
                  </a:lnTo>
                  <a:lnTo>
                    <a:pt x="56180" y="26481"/>
                  </a:lnTo>
                  <a:lnTo>
                    <a:pt x="26481" y="56180"/>
                  </a:lnTo>
                  <a:lnTo>
                    <a:pt x="6998" y="93829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6998" y="729130"/>
                  </a:lnTo>
                  <a:lnTo>
                    <a:pt x="26481" y="766779"/>
                  </a:lnTo>
                  <a:lnTo>
                    <a:pt x="56180" y="796478"/>
                  </a:lnTo>
                  <a:lnTo>
                    <a:pt x="93829" y="815961"/>
                  </a:lnTo>
                  <a:lnTo>
                    <a:pt x="137159" y="822959"/>
                  </a:lnTo>
                  <a:lnTo>
                    <a:pt x="3395472" y="822959"/>
                  </a:lnTo>
                  <a:lnTo>
                    <a:pt x="3438802" y="815961"/>
                  </a:lnTo>
                  <a:lnTo>
                    <a:pt x="3476451" y="796478"/>
                  </a:lnTo>
                  <a:lnTo>
                    <a:pt x="3506150" y="766779"/>
                  </a:lnTo>
                  <a:lnTo>
                    <a:pt x="3525633" y="729130"/>
                  </a:lnTo>
                  <a:lnTo>
                    <a:pt x="3532631" y="685799"/>
                  </a:lnTo>
                  <a:lnTo>
                    <a:pt x="3532631" y="137159"/>
                  </a:lnTo>
                  <a:lnTo>
                    <a:pt x="3525633" y="93829"/>
                  </a:lnTo>
                  <a:lnTo>
                    <a:pt x="3506150" y="56180"/>
                  </a:lnTo>
                  <a:lnTo>
                    <a:pt x="3476451" y="26481"/>
                  </a:lnTo>
                  <a:lnTo>
                    <a:pt x="3438802" y="6998"/>
                  </a:lnTo>
                  <a:lnTo>
                    <a:pt x="339547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7543800" y="2941320"/>
              <a:ext cx="3533140" cy="822960"/>
            </a:xfrm>
            <a:custGeom>
              <a:avLst/>
              <a:gdLst/>
              <a:ahLst/>
              <a:cxnLst/>
              <a:rect l="l" t="t" r="r" b="b"/>
              <a:pathLst>
                <a:path w="3533140" h="822960">
                  <a:moveTo>
                    <a:pt x="0" y="137159"/>
                  </a:moveTo>
                  <a:lnTo>
                    <a:pt x="6998" y="93829"/>
                  </a:lnTo>
                  <a:lnTo>
                    <a:pt x="26481" y="56180"/>
                  </a:lnTo>
                  <a:lnTo>
                    <a:pt x="56180" y="26481"/>
                  </a:lnTo>
                  <a:lnTo>
                    <a:pt x="93829" y="6998"/>
                  </a:lnTo>
                  <a:lnTo>
                    <a:pt x="137159" y="0"/>
                  </a:lnTo>
                  <a:lnTo>
                    <a:pt x="3395472" y="0"/>
                  </a:lnTo>
                  <a:lnTo>
                    <a:pt x="3438802" y="6998"/>
                  </a:lnTo>
                  <a:lnTo>
                    <a:pt x="3476451" y="26481"/>
                  </a:lnTo>
                  <a:lnTo>
                    <a:pt x="3506150" y="56180"/>
                  </a:lnTo>
                  <a:lnTo>
                    <a:pt x="3525633" y="93829"/>
                  </a:lnTo>
                  <a:lnTo>
                    <a:pt x="3532631" y="137159"/>
                  </a:lnTo>
                  <a:lnTo>
                    <a:pt x="3532631" y="685799"/>
                  </a:lnTo>
                  <a:lnTo>
                    <a:pt x="3525633" y="729130"/>
                  </a:lnTo>
                  <a:lnTo>
                    <a:pt x="3506150" y="766779"/>
                  </a:lnTo>
                  <a:lnTo>
                    <a:pt x="3476451" y="796478"/>
                  </a:lnTo>
                  <a:lnTo>
                    <a:pt x="3438802" y="815961"/>
                  </a:lnTo>
                  <a:lnTo>
                    <a:pt x="3395472" y="822959"/>
                  </a:lnTo>
                  <a:lnTo>
                    <a:pt x="137159" y="822959"/>
                  </a:lnTo>
                  <a:lnTo>
                    <a:pt x="93829" y="815961"/>
                  </a:lnTo>
                  <a:lnTo>
                    <a:pt x="56180" y="796478"/>
                  </a:lnTo>
                  <a:lnTo>
                    <a:pt x="26481" y="766779"/>
                  </a:lnTo>
                  <a:lnTo>
                    <a:pt x="6998" y="729130"/>
                  </a:lnTo>
                  <a:lnTo>
                    <a:pt x="0" y="685799"/>
                  </a:lnTo>
                  <a:lnTo>
                    <a:pt x="0" y="13715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773669" y="3121276"/>
            <a:ext cx="3074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21336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Integration</a:t>
            </a:r>
            <a:r>
              <a:rPr kumimoji="0" sz="1800" b="0" i="0" u="none" strike="noStrike" kern="0" cap="none" spc="-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updating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 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positions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velocities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after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1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Δt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830570" y="3056982"/>
            <a:ext cx="1323340" cy="734060"/>
            <a:chOff x="5830570" y="2957829"/>
            <a:chExt cx="1323340" cy="734060"/>
          </a:xfrm>
        </p:grpSpPr>
        <p:sp>
          <p:nvSpPr>
            <p:cNvPr id="29" name="object 29"/>
            <p:cNvSpPr/>
            <p:nvPr/>
          </p:nvSpPr>
          <p:spPr>
            <a:xfrm>
              <a:off x="5836920" y="2964179"/>
              <a:ext cx="1310640" cy="281940"/>
            </a:xfrm>
            <a:custGeom>
              <a:avLst/>
              <a:gdLst/>
              <a:ahLst/>
              <a:cxnLst/>
              <a:rect l="l" t="t" r="r" b="b"/>
              <a:pathLst>
                <a:path w="1310640" h="281939">
                  <a:moveTo>
                    <a:pt x="1169670" y="0"/>
                  </a:moveTo>
                  <a:lnTo>
                    <a:pt x="1169670" y="70485"/>
                  </a:lnTo>
                  <a:lnTo>
                    <a:pt x="0" y="70485"/>
                  </a:lnTo>
                  <a:lnTo>
                    <a:pt x="0" y="211455"/>
                  </a:lnTo>
                  <a:lnTo>
                    <a:pt x="1169670" y="211455"/>
                  </a:lnTo>
                  <a:lnTo>
                    <a:pt x="1169670" y="281940"/>
                  </a:lnTo>
                  <a:lnTo>
                    <a:pt x="1310639" y="140970"/>
                  </a:lnTo>
                  <a:lnTo>
                    <a:pt x="116967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5836920" y="2964179"/>
              <a:ext cx="1310640" cy="281940"/>
            </a:xfrm>
            <a:custGeom>
              <a:avLst/>
              <a:gdLst/>
              <a:ahLst/>
              <a:cxnLst/>
              <a:rect l="l" t="t" r="r" b="b"/>
              <a:pathLst>
                <a:path w="1310640" h="281939">
                  <a:moveTo>
                    <a:pt x="0" y="70485"/>
                  </a:moveTo>
                  <a:lnTo>
                    <a:pt x="1169670" y="70485"/>
                  </a:lnTo>
                  <a:lnTo>
                    <a:pt x="1169670" y="0"/>
                  </a:lnTo>
                  <a:lnTo>
                    <a:pt x="1310639" y="140970"/>
                  </a:lnTo>
                  <a:lnTo>
                    <a:pt x="1169670" y="281940"/>
                  </a:lnTo>
                  <a:lnTo>
                    <a:pt x="1169670" y="211455"/>
                  </a:lnTo>
                  <a:lnTo>
                    <a:pt x="0" y="211455"/>
                  </a:lnTo>
                  <a:lnTo>
                    <a:pt x="0" y="7048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5836920" y="3403091"/>
              <a:ext cx="1310640" cy="281940"/>
            </a:xfrm>
            <a:custGeom>
              <a:avLst/>
              <a:gdLst/>
              <a:ahLst/>
              <a:cxnLst/>
              <a:rect l="l" t="t" r="r" b="b"/>
              <a:pathLst>
                <a:path w="1310640" h="281939">
                  <a:moveTo>
                    <a:pt x="140969" y="0"/>
                  </a:moveTo>
                  <a:lnTo>
                    <a:pt x="0" y="140970"/>
                  </a:lnTo>
                  <a:lnTo>
                    <a:pt x="140969" y="281940"/>
                  </a:lnTo>
                  <a:lnTo>
                    <a:pt x="140969" y="211455"/>
                  </a:lnTo>
                  <a:lnTo>
                    <a:pt x="1310639" y="211455"/>
                  </a:lnTo>
                  <a:lnTo>
                    <a:pt x="1310639" y="70485"/>
                  </a:lnTo>
                  <a:lnTo>
                    <a:pt x="140969" y="70485"/>
                  </a:lnTo>
                  <a:lnTo>
                    <a:pt x="14096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5836920" y="3403091"/>
              <a:ext cx="1310640" cy="281940"/>
            </a:xfrm>
            <a:custGeom>
              <a:avLst/>
              <a:gdLst/>
              <a:ahLst/>
              <a:cxnLst/>
              <a:rect l="l" t="t" r="r" b="b"/>
              <a:pathLst>
                <a:path w="1310640" h="281939">
                  <a:moveTo>
                    <a:pt x="1310639" y="70485"/>
                  </a:moveTo>
                  <a:lnTo>
                    <a:pt x="140969" y="70485"/>
                  </a:lnTo>
                  <a:lnTo>
                    <a:pt x="140969" y="0"/>
                  </a:lnTo>
                  <a:lnTo>
                    <a:pt x="0" y="140970"/>
                  </a:lnTo>
                  <a:lnTo>
                    <a:pt x="140969" y="281940"/>
                  </a:lnTo>
                  <a:lnTo>
                    <a:pt x="140969" y="211455"/>
                  </a:lnTo>
                  <a:lnTo>
                    <a:pt x="1310639" y="211455"/>
                  </a:lnTo>
                  <a:lnTo>
                    <a:pt x="1310639" y="7048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886325" y="3798189"/>
            <a:ext cx="3490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Termination</a:t>
            </a:r>
            <a:r>
              <a:rPr kumimoji="0" sz="1800" b="0" i="0" u="none" strike="noStrike" kern="0" cap="none" spc="-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based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preset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criteria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>
                <a:latin typeface="Arial" panose="020B0604020202020204" pitchFamily="34" charset="0"/>
                <a:cs typeface="Arial" panose="020B0604020202020204" pitchFamily="34" charset="0"/>
              </a:rPr>
              <a:t>Force</a:t>
            </a:r>
            <a:r>
              <a:rPr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20" dirty="0">
                <a:latin typeface="Arial" panose="020B0604020202020204" pitchFamily="34" charset="0"/>
                <a:cs typeface="Arial" panose="020B0604020202020204" pitchFamily="34" charset="0"/>
              </a:rPr>
              <a:t>Calculation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834" y="1102613"/>
            <a:ext cx="22809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Origin</a:t>
            </a:r>
            <a:r>
              <a:rPr sz="2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8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30" dirty="0">
                <a:latin typeface="Arial" panose="020B0604020202020204" pitchFamily="34" charset="0"/>
                <a:cs typeface="Arial" panose="020B0604020202020204" pitchFamily="34" charset="0"/>
              </a:rPr>
              <a:t>Force</a:t>
            </a:r>
            <a:endParaRPr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6834" y="2084177"/>
            <a:ext cx="7487284" cy="116570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9"/>
              </a:spcBef>
              <a:buChar char="•"/>
              <a:tabLst>
                <a:tab pos="240665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External:</a:t>
            </a:r>
          </a:p>
          <a:p>
            <a:pPr marL="697230" marR="5080" lvl="1" indent="-227329">
              <a:lnSpc>
                <a:spcPts val="2590"/>
              </a:lnSpc>
              <a:spcBef>
                <a:spcPts val="595"/>
              </a:spcBef>
              <a:buChar char="•"/>
              <a:tabLst>
                <a:tab pos="69850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 external force on each atom (if any) needs to be pre-assigned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6834" y="3831579"/>
            <a:ext cx="7863783" cy="1904367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90"/>
              </a:spcBef>
              <a:buChar char="•"/>
              <a:tabLst>
                <a:tab pos="240665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Internal:</a:t>
            </a:r>
          </a:p>
          <a:p>
            <a:pPr marL="697230" lvl="1" indent="-227329">
              <a:lnSpc>
                <a:spcPct val="100000"/>
              </a:lnSpc>
              <a:spcBef>
                <a:spcPts val="254"/>
              </a:spcBef>
              <a:buChar char="•"/>
              <a:tabLst>
                <a:tab pos="697230" algn="l"/>
                <a:tab pos="2886075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Due to bonding	i.e., the gradient in potential energy</a:t>
            </a:r>
          </a:p>
          <a:p>
            <a:pPr marL="697230" marR="130175" lvl="1" indent="-227329">
              <a:lnSpc>
                <a:spcPts val="2590"/>
              </a:lnSpc>
              <a:spcBef>
                <a:spcPts val="550"/>
              </a:spcBef>
              <a:buChar char="•"/>
              <a:tabLst>
                <a:tab pos="69850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Each atom is bonded with every other and each of these bonds is in a different state of being stretched (or compressed)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878569" y="2162047"/>
            <a:ext cx="247586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Interatomic</a:t>
            </a:r>
            <a:r>
              <a:rPr sz="1800" spc="-40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70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</a:t>
            </a:r>
            <a:r>
              <a:rPr sz="1800" spc="-10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6D6C42-201C-0E5A-DDB7-0DBDB61CC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380" y="2694412"/>
            <a:ext cx="3195427" cy="18909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5697-18A5-71FE-206C-318C7764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12" y="232612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Interatomic Potentials</a:t>
            </a:r>
          </a:p>
        </p:txBody>
      </p:sp>
    </p:spTree>
    <p:extLst>
      <p:ext uri="{BB962C8B-B14F-4D97-AF65-F5344CB8AC3E}">
        <p14:creationId xmlns:p14="http://schemas.microsoft.com/office/powerpoint/2010/main" val="2554877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29768"/>
            <a:ext cx="64287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Interactions</a:t>
            </a:r>
            <a:r>
              <a:rPr spc="-210" dirty="0"/>
              <a:t> </a:t>
            </a:r>
            <a:r>
              <a:rPr spc="-195" dirty="0"/>
              <a:t>between</a:t>
            </a:r>
            <a:r>
              <a:rPr spc="-114" dirty="0"/>
              <a:t> </a:t>
            </a:r>
            <a:r>
              <a:rPr spc="-155" dirty="0"/>
              <a:t>atoms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4540" y="1780732"/>
            <a:ext cx="1743357" cy="17900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0465" y="1780032"/>
            <a:ext cx="1743371" cy="1790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47232" y="1956930"/>
            <a:ext cx="1771650" cy="14757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57330" y="1875282"/>
            <a:ext cx="1333963" cy="14573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75861" y="4382803"/>
            <a:ext cx="9172906" cy="95710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75129" y="5671515"/>
            <a:ext cx="1286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853B41"/>
                </a:solidFill>
                <a:effectLst/>
                <a:uLnTx/>
                <a:uFillTx/>
                <a:latin typeface="Arial"/>
                <a:cs typeface="Arial"/>
              </a:rPr>
              <a:t>External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853B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853B41"/>
                </a:solidFill>
                <a:effectLst/>
                <a:uLnTx/>
                <a:uFillTx/>
                <a:latin typeface="Arial"/>
                <a:cs typeface="Arial"/>
              </a:rPr>
              <a:t>field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0965" y="5670905"/>
            <a:ext cx="13246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853B41"/>
                </a:solidFill>
                <a:effectLst/>
                <a:uLnTx/>
                <a:uFillTx/>
                <a:latin typeface="Arial"/>
                <a:cs typeface="Arial"/>
              </a:rPr>
              <a:t>Pair</a:t>
            </a:r>
            <a:r>
              <a:rPr kumimoji="0" sz="1800" b="0" i="0" u="none" strike="noStrike" kern="0" cap="none" spc="-80" normalizeH="0" baseline="0" noProof="0" dirty="0">
                <a:ln>
                  <a:noFill/>
                </a:ln>
                <a:solidFill>
                  <a:srgbClr val="853B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853B41"/>
                </a:solidFill>
                <a:effectLst/>
                <a:uLnTx/>
                <a:uFillTx/>
                <a:latin typeface="Arial"/>
                <a:cs typeface="Arial"/>
              </a:rPr>
              <a:t>potential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1106" y="5670905"/>
            <a:ext cx="11112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70" normalizeH="0" baseline="0" noProof="0" dirty="0">
                <a:ln>
                  <a:noFill/>
                </a:ln>
                <a:solidFill>
                  <a:srgbClr val="853B41"/>
                </a:solidFill>
                <a:effectLst/>
                <a:uLnTx/>
                <a:uFillTx/>
                <a:latin typeface="Arial"/>
                <a:cs typeface="Arial"/>
              </a:rPr>
              <a:t>Three-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rgbClr val="853B41"/>
                </a:solidFill>
                <a:effectLst/>
                <a:uLnTx/>
                <a:uFillTx/>
                <a:latin typeface="Arial"/>
                <a:cs typeface="Arial"/>
              </a:rPr>
              <a:t>body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09097" y="5611164"/>
            <a:ext cx="469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90" normalizeH="0" baseline="0" noProof="0" dirty="0">
                <a:ln>
                  <a:noFill/>
                </a:ln>
                <a:solidFill>
                  <a:srgbClr val="853B41"/>
                </a:solidFill>
                <a:effectLst/>
                <a:uLnTx/>
                <a:uFillTx/>
                <a:latin typeface="Arial"/>
                <a:cs typeface="Arial"/>
              </a:rPr>
              <a:t>…….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Central-</a:t>
            </a:r>
            <a:r>
              <a:rPr spc="-155" dirty="0"/>
              <a:t>Force</a:t>
            </a:r>
            <a:r>
              <a:rPr spc="-90" dirty="0"/>
              <a:t> </a:t>
            </a:r>
            <a:r>
              <a:rPr spc="-100" dirty="0"/>
              <a:t>potentials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834" y="1102613"/>
            <a:ext cx="6446520" cy="198818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lvl="0" indent="-227965" defTabSz="914400" eaLnBrk="1" fontAlgn="auto" latinLnBrk="0" hangingPunct="1">
              <a:lnSpc>
                <a:spcPct val="9000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come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across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number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of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systems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which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interaction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potential 	</a:t>
            </a:r>
            <a:r>
              <a:rPr kumimoji="0" sz="28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between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two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particles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function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only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distance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between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them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these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are 	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called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central-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force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potentials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5992" y="1335617"/>
            <a:ext cx="2711320" cy="19609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00338" y="4027305"/>
            <a:ext cx="2724150" cy="5526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70147" y="3102864"/>
            <a:ext cx="3105911" cy="9235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2248" y="4488619"/>
            <a:ext cx="7714874" cy="46704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11051" y="5433660"/>
            <a:ext cx="3323737" cy="8987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0" dirty="0"/>
              <a:t>Lennard-</a:t>
            </a:r>
            <a:r>
              <a:rPr spc="-330" dirty="0"/>
              <a:t>Jones</a:t>
            </a:r>
            <a:r>
              <a:rPr spc="70" dirty="0"/>
              <a:t> </a:t>
            </a:r>
            <a:r>
              <a:rPr spc="75" dirty="0"/>
              <a:t>(LJ)</a:t>
            </a:r>
            <a:r>
              <a:rPr spc="100" dirty="0"/>
              <a:t> </a:t>
            </a:r>
            <a:r>
              <a:rPr dirty="0"/>
              <a:t>pair</a:t>
            </a:r>
            <a:r>
              <a:rPr spc="90" dirty="0"/>
              <a:t> </a:t>
            </a:r>
            <a:r>
              <a:rPr spc="-30" dirty="0"/>
              <a:t>potential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1434" y="1113281"/>
            <a:ext cx="6758305" cy="415162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65430" marR="585470" lvl="0" indent="-227965" algn="just" defTabSz="91440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667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typical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example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Lennard</a:t>
            </a:r>
            <a:r>
              <a:rPr kumimoji="0" sz="2800" b="0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−</a:t>
            </a:r>
            <a:r>
              <a:rPr kumimoji="0" sz="2800" b="0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Jones 	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potential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(Lennard</a:t>
            </a:r>
            <a:r>
              <a:rPr kumimoji="0" sz="28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−</a:t>
            </a:r>
            <a:r>
              <a:rPr kumimoji="0" sz="28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Jones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1924)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65430" marR="636270" lvl="0" indent="-227965" algn="just" defTabSz="914400" eaLnBrk="1" fontAlgn="auto" latinLnBrk="0" hangingPunct="1">
              <a:lnSpc>
                <a:spcPct val="90000"/>
              </a:lnSpc>
              <a:spcBef>
                <a:spcPts val="86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66700" algn="l"/>
              </a:tabLst>
              <a:defRPr/>
            </a:pP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parameter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ε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lowest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energy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 	potential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curve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</a:t>
            </a:r>
            <a:r>
              <a:rPr kumimoji="0" sz="28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≡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well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depth,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cohesive 	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energy),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parameter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σ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interatomic 	</a:t>
            </a:r>
            <a:r>
              <a:rPr kumimoji="0" sz="28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distance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which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potential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zero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65430" marR="30480" lvl="0" indent="-227965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66700" algn="l"/>
              </a:tabLst>
              <a:defRPr/>
            </a:pPr>
            <a:r>
              <a:rPr kumimoji="0" sz="2800" b="0" i="0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equilibrium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interatomic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distance,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sz="2775" b="0" i="0" u="none" strike="noStrike" kern="0" cap="none" spc="0" normalizeH="0" baseline="-2102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0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,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two 	</a:t>
            </a:r>
            <a:r>
              <a:rPr kumimoji="0" sz="28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forces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balanced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net</a:t>
            </a:r>
            <a:r>
              <a:rPr kumimoji="0" sz="2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force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zero, 	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corresponding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energy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becomes 	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minimum</a:t>
            </a:r>
            <a:r>
              <a:rPr kumimoji="0" sz="28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(dU</a:t>
            </a:r>
            <a:r>
              <a:rPr kumimoji="0" sz="2775" b="0" i="0" u="none" strike="noStrike" kern="0" cap="none" spc="0" normalizeH="0" baseline="-2102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LJ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/dr</a:t>
            </a:r>
            <a:r>
              <a:rPr kumimoji="0" sz="2800" b="0" i="0" u="none" strike="noStrike" kern="0" cap="none" spc="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5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28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0)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2603" y="5900678"/>
            <a:ext cx="2103740" cy="6543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14076" y="5127066"/>
            <a:ext cx="3046553" cy="66955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52888" y="6225540"/>
            <a:ext cx="3283463" cy="2950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81443" y="1130808"/>
            <a:ext cx="5032247" cy="37810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Mie</a:t>
            </a:r>
            <a:r>
              <a:rPr spc="-60" dirty="0"/>
              <a:t> </a:t>
            </a:r>
            <a:r>
              <a:rPr spc="-50" dirty="0"/>
              <a:t>Potential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1434" y="1102613"/>
            <a:ext cx="11018520" cy="32670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65430" marR="30480" lvl="0" indent="-227965" defTabSz="914400" eaLnBrk="1" fontAlgn="auto" latinLnBrk="0" hangingPunct="1">
              <a:lnSpc>
                <a:spcPct val="9000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66700" algn="l"/>
              </a:tabLst>
              <a:defRPr/>
            </a:pPr>
            <a:r>
              <a:rPr kumimoji="0" sz="28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Improvements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can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made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Lennard-</a:t>
            </a:r>
            <a:r>
              <a:rPr kumimoji="0" sz="2800" b="0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Jones</a:t>
            </a:r>
            <a:r>
              <a:rPr kumimoji="0" sz="2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potential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by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adding 	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additional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parameters.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approach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would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have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exponents</a:t>
            </a:r>
            <a:r>
              <a:rPr kumimoji="0" sz="2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1/r</a:t>
            </a:r>
            <a:r>
              <a:rPr kumimoji="0" sz="2775" b="0" i="0" u="none" strike="noStrike" kern="0" cap="none" spc="75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12</a:t>
            </a:r>
            <a:r>
              <a:rPr kumimoji="0" sz="2775" b="0" i="0" u="none" strike="noStrike" kern="0" cap="none" spc="345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1/r</a:t>
            </a:r>
            <a:r>
              <a:rPr kumimoji="0" sz="2775" b="0" i="0" u="none" strike="noStrike" kern="0" cap="none" spc="135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6</a:t>
            </a:r>
            <a:r>
              <a:rPr kumimoji="0" sz="2775" b="0" i="0" u="none" strike="noStrike" kern="0" cap="none" spc="345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parts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potential </a:t>
            </a:r>
            <a:r>
              <a:rPr kumimoji="0" sz="28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adjustable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parameters,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i.e., 	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instead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sz="2775" b="0" i="0" u="none" strike="noStrike" kern="0" cap="none" spc="0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−</a:t>
            </a:r>
            <a:r>
              <a:rPr kumimoji="0" sz="2775" b="0" i="0" u="none" strike="noStrike" kern="0" cap="none" spc="0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12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,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perhaps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sz="2775" b="0" i="0" u="none" strike="noStrike" kern="0" cap="none" spc="0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−</a:t>
            </a:r>
            <a:r>
              <a:rPr kumimoji="0" sz="2775" b="0" i="0" u="none" strike="noStrike" kern="0" cap="none" spc="0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11</a:t>
            </a:r>
            <a:r>
              <a:rPr kumimoji="0" sz="2775" b="0" i="0" u="none" strike="noStrike" kern="0" cap="none" spc="307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would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better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description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short- 	</a:t>
            </a:r>
            <a:r>
              <a:rPr kumimoji="0" sz="28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range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interactions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in</a:t>
            </a:r>
            <a:r>
              <a:rPr kumimoji="0" sz="2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some</a:t>
            </a:r>
            <a:r>
              <a:rPr kumimoji="0" sz="2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systems.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64795" marR="184785" lvl="0" indent="-227329" algn="just" defTabSz="914400" eaLnBrk="1" fontAlgn="auto" latinLnBrk="0" hangingPunct="1">
              <a:lnSpc>
                <a:spcPct val="9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667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variation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Lennard-</a:t>
            </a:r>
            <a:r>
              <a:rPr kumimoji="0" sz="28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Jones</a:t>
            </a:r>
            <a:r>
              <a:rPr kumimoji="0" sz="2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form,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called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Mie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potential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(or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mn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Lennard-</a:t>
            </a:r>
            <a:r>
              <a:rPr kumimoji="0" sz="2800" b="0" i="0" u="none" strike="noStrike" kern="0" cap="none" spc="-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Jones</a:t>
            </a:r>
            <a:r>
              <a:rPr kumimoji="0" sz="2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potential),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takes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this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approach,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replacing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1/r</a:t>
            </a:r>
            <a:r>
              <a:rPr kumimoji="0" sz="2775" b="0" i="0" u="none" strike="noStrike" kern="0" cap="none" spc="82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12</a:t>
            </a:r>
            <a:r>
              <a:rPr kumimoji="0" sz="2775" b="0" i="0" u="none" strike="noStrike" kern="0" cap="none" spc="367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with 	</a:t>
            </a:r>
            <a:r>
              <a:rPr kumimoji="0" sz="2800" b="0" i="0" u="none" strike="noStrike" kern="0" cap="none" spc="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1/r</a:t>
            </a:r>
            <a:r>
              <a:rPr kumimoji="0" sz="2775" b="0" i="0" u="none" strike="noStrike" kern="0" cap="none" spc="150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</a:t>
            </a:r>
            <a:r>
              <a:rPr kumimoji="0" sz="2775" b="0" i="0" u="none" strike="noStrike" kern="0" cap="none" spc="465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1/r</a:t>
            </a:r>
            <a:r>
              <a:rPr kumimoji="0" sz="2775" b="0" i="0" u="none" strike="noStrike" kern="0" cap="none" spc="135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6</a:t>
            </a:r>
            <a:r>
              <a:rPr kumimoji="0" sz="2775" b="0" i="0" u="none" strike="noStrike" kern="0" cap="none" spc="465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8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1/r</a:t>
            </a:r>
            <a:r>
              <a:rPr kumimoji="0" sz="2775" b="0" i="0" u="none" strike="noStrike" kern="0" cap="none" spc="112" normalizeH="0" baseline="2552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280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.</a:t>
            </a:r>
            <a:r>
              <a:rPr kumimoji="0" sz="28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Writing</a:t>
            </a:r>
            <a:r>
              <a:rPr kumimoji="0" sz="28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Mie</a:t>
            </a:r>
            <a:r>
              <a:rPr kumimoji="0" sz="28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potential</a:t>
            </a:r>
            <a:r>
              <a:rPr kumimoji="0" sz="28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3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750" y="4830284"/>
            <a:ext cx="6589979" cy="9657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24475" y="5361355"/>
            <a:ext cx="2825252" cy="4176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Other</a:t>
            </a:r>
            <a:r>
              <a:rPr spc="-290" dirty="0"/>
              <a:t> </a:t>
            </a:r>
            <a:r>
              <a:rPr spc="-95" dirty="0"/>
              <a:t>potentials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834" y="1102613"/>
            <a:ext cx="32727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853B41"/>
                </a:solidFill>
                <a:effectLst/>
                <a:uLnTx/>
                <a:uFillTx/>
                <a:latin typeface="Arial"/>
                <a:cs typeface="Arial"/>
              </a:rPr>
              <a:t>Buckingham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rgbClr val="853B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853B41"/>
                </a:solidFill>
                <a:effectLst/>
                <a:uLnTx/>
                <a:uFillTx/>
                <a:latin typeface="Arial"/>
                <a:cs typeface="Arial"/>
              </a:rPr>
              <a:t>potential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24297" y="1818258"/>
            <a:ext cx="409575" cy="328930"/>
          </a:xfrm>
          <a:custGeom>
            <a:avLst/>
            <a:gdLst/>
            <a:ahLst/>
            <a:cxnLst/>
            <a:rect l="l" t="t" r="r" b="b"/>
            <a:pathLst>
              <a:path w="409575" h="328930">
                <a:moveTo>
                  <a:pt x="304673" y="0"/>
                </a:moveTo>
                <a:lnTo>
                  <a:pt x="299974" y="13462"/>
                </a:lnTo>
                <a:lnTo>
                  <a:pt x="319004" y="21705"/>
                </a:lnTo>
                <a:lnTo>
                  <a:pt x="335343" y="33115"/>
                </a:lnTo>
                <a:lnTo>
                  <a:pt x="360044" y="65531"/>
                </a:lnTo>
                <a:lnTo>
                  <a:pt x="374618" y="109219"/>
                </a:lnTo>
                <a:lnTo>
                  <a:pt x="379475" y="162813"/>
                </a:lnTo>
                <a:lnTo>
                  <a:pt x="378261" y="191863"/>
                </a:lnTo>
                <a:lnTo>
                  <a:pt x="368546" y="241913"/>
                </a:lnTo>
                <a:lnTo>
                  <a:pt x="348970" y="280965"/>
                </a:lnTo>
                <a:lnTo>
                  <a:pt x="319200" y="307306"/>
                </a:lnTo>
                <a:lnTo>
                  <a:pt x="300481" y="315594"/>
                </a:lnTo>
                <a:lnTo>
                  <a:pt x="304673" y="328929"/>
                </a:lnTo>
                <a:lnTo>
                  <a:pt x="349503" y="307895"/>
                </a:lnTo>
                <a:lnTo>
                  <a:pt x="382524" y="271525"/>
                </a:lnTo>
                <a:lnTo>
                  <a:pt x="402812" y="222726"/>
                </a:lnTo>
                <a:lnTo>
                  <a:pt x="409575" y="164591"/>
                </a:lnTo>
                <a:lnTo>
                  <a:pt x="407882" y="134790"/>
                </a:lnTo>
                <a:lnTo>
                  <a:pt x="394251" y="80992"/>
                </a:lnTo>
                <a:lnTo>
                  <a:pt x="367323" y="37486"/>
                </a:lnTo>
                <a:lnTo>
                  <a:pt x="328461" y="8669"/>
                </a:lnTo>
                <a:lnTo>
                  <a:pt x="304673" y="0"/>
                </a:lnTo>
                <a:close/>
              </a:path>
              <a:path w="409575" h="328930">
                <a:moveTo>
                  <a:pt x="104901" y="0"/>
                </a:moveTo>
                <a:lnTo>
                  <a:pt x="60118" y="21161"/>
                </a:lnTo>
                <a:lnTo>
                  <a:pt x="27050" y="57657"/>
                </a:lnTo>
                <a:lnTo>
                  <a:pt x="6762" y="106600"/>
                </a:lnTo>
                <a:lnTo>
                  <a:pt x="99" y="162813"/>
                </a:lnTo>
                <a:lnTo>
                  <a:pt x="0" y="164591"/>
                </a:lnTo>
                <a:lnTo>
                  <a:pt x="1690" y="194837"/>
                </a:lnTo>
                <a:lnTo>
                  <a:pt x="15216" y="248281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5" y="315594"/>
                </a:lnTo>
                <a:lnTo>
                  <a:pt x="90247" y="307306"/>
                </a:lnTo>
                <a:lnTo>
                  <a:pt x="74088" y="295767"/>
                </a:lnTo>
                <a:lnTo>
                  <a:pt x="49402" y="262889"/>
                </a:lnTo>
                <a:lnTo>
                  <a:pt x="34829" y="218233"/>
                </a:lnTo>
                <a:lnTo>
                  <a:pt x="30046" y="164591"/>
                </a:lnTo>
                <a:lnTo>
                  <a:pt x="29972" y="162813"/>
                </a:lnTo>
                <a:lnTo>
                  <a:pt x="31186" y="134790"/>
                </a:lnTo>
                <a:lnTo>
                  <a:pt x="40901" y="86125"/>
                </a:lnTo>
                <a:lnTo>
                  <a:pt x="60503" y="47716"/>
                </a:lnTo>
                <a:lnTo>
                  <a:pt x="90515" y="21705"/>
                </a:lnTo>
                <a:lnTo>
                  <a:pt x="109474" y="13462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98868" y="1971294"/>
            <a:ext cx="352425" cy="22860"/>
          </a:xfrm>
          <a:custGeom>
            <a:avLst/>
            <a:gdLst/>
            <a:ahLst/>
            <a:cxnLst/>
            <a:rect l="l" t="t" r="r" b="b"/>
            <a:pathLst>
              <a:path w="352425" h="22860">
                <a:moveTo>
                  <a:pt x="352044" y="0"/>
                </a:moveTo>
                <a:lnTo>
                  <a:pt x="0" y="0"/>
                </a:lnTo>
                <a:lnTo>
                  <a:pt x="0" y="22860"/>
                </a:lnTo>
                <a:lnTo>
                  <a:pt x="352044" y="22860"/>
                </a:lnTo>
                <a:lnTo>
                  <a:pt x="352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05528" y="1716481"/>
            <a:ext cx="2905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35609" algn="l"/>
                <a:tab pos="859155" algn="l"/>
                <a:tab pos="2654935" algn="l"/>
              </a:tabLst>
              <a:defRPr/>
            </a:pPr>
            <a:r>
              <a:rPr kumimoji="0" sz="2800" b="0" i="0" u="none" strike="noStrike" kern="0" cap="none" spc="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𝜙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	</a:t>
            </a:r>
            <a:r>
              <a:rPr kumimoji="0" sz="2800" b="0" i="0" u="none" strike="noStrike" kern="0" cap="none" spc="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𝑟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	</a:t>
            </a:r>
            <a:r>
              <a:rPr kumimoji="0" sz="28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=</a:t>
            </a:r>
            <a:r>
              <a:rPr kumimoji="0" sz="2800" b="0" i="0" u="none" strike="noStrike" kern="0" cap="none" spc="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 </a:t>
            </a:r>
            <a:r>
              <a:rPr kumimoji="0" sz="2800" b="0" i="0" u="none" strike="noStrike" kern="0" cap="none" spc="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𝐴𝑒</a:t>
            </a:r>
            <a:r>
              <a:rPr kumimoji="0" sz="3075" b="0" i="0" u="none" strike="noStrike" kern="0" cap="none" spc="172" normalizeH="0" baseline="271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−𝛼𝑟</a:t>
            </a:r>
            <a:r>
              <a:rPr kumimoji="0" sz="3075" b="0" i="0" u="none" strike="noStrike" kern="0" cap="none" spc="532" normalizeH="0" baseline="271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 </a:t>
            </a:r>
            <a:r>
              <a:rPr kumimoji="0" sz="2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−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	</a:t>
            </a:r>
            <a:r>
              <a:rPr kumimoji="0" sz="4200" b="0" i="0" u="none" strike="noStrike" kern="0" cap="none" spc="-75" normalizeH="0" baseline="41666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𝐶</a:t>
            </a:r>
            <a:endParaRPr kumimoji="0" sz="4200" b="0" i="0" u="none" strike="noStrike" kern="0" cap="none" spc="0" normalizeH="0" baseline="41666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TIX Two Math"/>
              <a:cs typeface="STIX Two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61530" y="1847849"/>
            <a:ext cx="412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0" b="0" i="0" u="none" strike="noStrike" kern="0" cap="none" spc="307" normalizeH="0" baseline="-1686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𝑟</a:t>
            </a:r>
            <a:r>
              <a:rPr kumimoji="0" sz="2050" b="0" i="0" u="none" strike="noStrike" kern="0" cap="none" spc="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6</a:t>
            </a:r>
            <a:endParaRPr kumimoji="0" sz="2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TIX Two Math"/>
              <a:cs typeface="STIX Two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6834" y="3866134"/>
            <a:ext cx="11195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0" lvl="0" indent="-227965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Often</a:t>
            </a:r>
            <a:r>
              <a:rPr kumimoji="0" sz="28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used</a:t>
            </a:r>
            <a:r>
              <a:rPr kumimoji="0" sz="2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Ionic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systems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where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electrostatic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interactions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included.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7424" y="2783386"/>
            <a:ext cx="5617356" cy="83818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94162" y="4619095"/>
            <a:ext cx="4416445" cy="36063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78746" y="5211862"/>
            <a:ext cx="2224660" cy="38166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46236" y="5289893"/>
            <a:ext cx="584423" cy="23792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30329" y="6027715"/>
            <a:ext cx="5175114" cy="3455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3745" y="908069"/>
            <a:ext cx="3660406" cy="245090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2192000" cy="855344"/>
          </a:xfrm>
          <a:custGeom>
            <a:avLst/>
            <a:gdLst/>
            <a:ahLst/>
            <a:cxnLst/>
            <a:rect l="l" t="t" r="r" b="b"/>
            <a:pathLst>
              <a:path w="12192000" h="855344">
                <a:moveTo>
                  <a:pt x="12192000" y="0"/>
                </a:moveTo>
                <a:lnTo>
                  <a:pt x="0" y="0"/>
                </a:lnTo>
                <a:lnTo>
                  <a:pt x="0" y="854963"/>
                </a:lnTo>
                <a:lnTo>
                  <a:pt x="12192000" y="854963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3B4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Other</a:t>
            </a:r>
            <a:r>
              <a:rPr spc="-290" dirty="0"/>
              <a:t> </a:t>
            </a:r>
            <a:r>
              <a:rPr spc="-95" dirty="0"/>
              <a:t>potentials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6834" y="1107186"/>
            <a:ext cx="218313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90" normalizeH="0" baseline="0" noProof="0" dirty="0">
                <a:ln>
                  <a:noFill/>
                </a:ln>
                <a:solidFill>
                  <a:srgbClr val="853B41"/>
                </a:solidFill>
                <a:effectLst/>
                <a:uLnTx/>
                <a:uFillTx/>
                <a:latin typeface="Arial"/>
                <a:cs typeface="Arial"/>
              </a:rPr>
              <a:t>Morse</a:t>
            </a:r>
            <a:r>
              <a:rPr kumimoji="0" sz="2600" b="0" i="0" u="none" strike="noStrike" kern="0" cap="none" spc="-75" normalizeH="0" baseline="0" noProof="0" dirty="0">
                <a:ln>
                  <a:noFill/>
                </a:ln>
                <a:solidFill>
                  <a:srgbClr val="853B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853B41"/>
                </a:solidFill>
                <a:effectLst/>
                <a:uLnTx/>
                <a:uFillTx/>
                <a:latin typeface="Arial"/>
                <a:cs typeface="Arial"/>
              </a:rPr>
              <a:t>potential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434" y="3526282"/>
            <a:ext cx="6408420" cy="26892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66700" marR="93980" lvl="0" indent="-229235" defTabSz="914400" eaLnBrk="1" fontAlgn="auto" latinLnBrk="0" hangingPunct="1">
              <a:lnSpc>
                <a:spcPct val="90000"/>
              </a:lnSpc>
              <a:spcBef>
                <a:spcPts val="4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66700" algn="l"/>
              </a:tabLst>
              <a:defRPr/>
            </a:pPr>
            <a:r>
              <a:rPr kumimoji="0" sz="26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sz="2550" b="0" i="1" u="none" strike="noStrike" kern="0" cap="none" spc="0" normalizeH="0" baseline="-2124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</a:t>
            </a:r>
            <a:r>
              <a:rPr kumimoji="0" sz="2550" b="0" i="1" u="none" strike="noStrike" kern="0" cap="none" spc="284" normalizeH="0" baseline="-2124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position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minimum,</a:t>
            </a:r>
            <a:r>
              <a:rPr kumimoji="0" sz="26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є</a:t>
            </a:r>
            <a:r>
              <a:rPr kumimoji="0" sz="26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well</a:t>
            </a:r>
            <a:r>
              <a:rPr kumimoji="0" sz="26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depth,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α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governs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shape</a:t>
            </a:r>
            <a:r>
              <a:rPr kumimoji="0" sz="26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the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potential.</a:t>
            </a:r>
            <a:r>
              <a:rPr kumimoji="0" sz="26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Morse</a:t>
            </a:r>
            <a:r>
              <a:rPr kumimoji="0" sz="26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potential</a:t>
            </a:r>
            <a:r>
              <a:rPr kumimoji="0" sz="26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has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6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very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soft</a:t>
            </a:r>
            <a:r>
              <a:rPr kumimoji="0" sz="2600" b="0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repulsive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wall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6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sometimes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used</a:t>
            </a:r>
            <a:r>
              <a:rPr kumimoji="0" sz="26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 </a:t>
            </a:r>
            <a:r>
              <a:rPr kumimoji="0" sz="26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model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interatomic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interactions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metals.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66700" marR="30480" lvl="0" indent="-229235" defTabSz="914400" eaLnBrk="1" fontAlgn="auto" latinLnBrk="0" hangingPunct="1">
              <a:lnSpc>
                <a:spcPts val="281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667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interaction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long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range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falls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off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much </a:t>
            </a:r>
            <a:r>
              <a:rPr kumimoji="0" sz="26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26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quickly</a:t>
            </a:r>
            <a:r>
              <a:rPr kumimoji="0" sz="26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than</a:t>
            </a:r>
            <a:r>
              <a:rPr kumimoji="0" sz="26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van</a:t>
            </a:r>
            <a:r>
              <a:rPr kumimoji="0" sz="26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der</a:t>
            </a:r>
            <a:r>
              <a:rPr kumimoji="0" sz="2600" b="0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Waals</a:t>
            </a:r>
            <a:r>
              <a:rPr kumimoji="0" sz="26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energy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4933" y="2095439"/>
            <a:ext cx="5369579" cy="9395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52359" y="3619630"/>
            <a:ext cx="4526575" cy="300242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299831" y="3884167"/>
            <a:ext cx="256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LJ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74456" y="4375277"/>
            <a:ext cx="675640" cy="1103630"/>
            <a:chOff x="7974456" y="4375277"/>
            <a:chExt cx="675640" cy="1103630"/>
          </a:xfrm>
        </p:grpSpPr>
        <p:sp>
          <p:nvSpPr>
            <p:cNvPr id="11" name="object 11"/>
            <p:cNvSpPr/>
            <p:nvPr/>
          </p:nvSpPr>
          <p:spPr>
            <a:xfrm>
              <a:off x="8194928" y="5120640"/>
              <a:ext cx="455295" cy="358140"/>
            </a:xfrm>
            <a:custGeom>
              <a:avLst/>
              <a:gdLst/>
              <a:ahLst/>
              <a:cxnLst/>
              <a:rect l="l" t="t" r="r" b="b"/>
              <a:pathLst>
                <a:path w="455295" h="358139">
                  <a:moveTo>
                    <a:pt x="422259" y="262889"/>
                  </a:moveTo>
                  <a:lnTo>
                    <a:pt x="414133" y="262889"/>
                  </a:lnTo>
                  <a:lnTo>
                    <a:pt x="405638" y="264159"/>
                  </a:lnTo>
                  <a:lnTo>
                    <a:pt x="374034" y="295909"/>
                  </a:lnTo>
                  <a:lnTo>
                    <a:pt x="371004" y="312419"/>
                  </a:lnTo>
                  <a:lnTo>
                    <a:pt x="371019" y="314959"/>
                  </a:lnTo>
                  <a:lnTo>
                    <a:pt x="392175" y="351789"/>
                  </a:lnTo>
                  <a:lnTo>
                    <a:pt x="407638" y="358139"/>
                  </a:lnTo>
                  <a:lnTo>
                    <a:pt x="425196" y="358139"/>
                  </a:lnTo>
                  <a:lnTo>
                    <a:pt x="430656" y="346709"/>
                  </a:lnTo>
                  <a:lnTo>
                    <a:pt x="413210" y="346709"/>
                  </a:lnTo>
                  <a:lnTo>
                    <a:pt x="405528" y="344169"/>
                  </a:lnTo>
                  <a:lnTo>
                    <a:pt x="391541" y="336549"/>
                  </a:lnTo>
                  <a:lnTo>
                    <a:pt x="387223" y="330199"/>
                  </a:lnTo>
                  <a:lnTo>
                    <a:pt x="385318" y="322579"/>
                  </a:lnTo>
                  <a:lnTo>
                    <a:pt x="384583" y="316229"/>
                  </a:lnTo>
                  <a:lnTo>
                    <a:pt x="385064" y="309879"/>
                  </a:lnTo>
                  <a:lnTo>
                    <a:pt x="386782" y="302259"/>
                  </a:lnTo>
                  <a:lnTo>
                    <a:pt x="389763" y="295909"/>
                  </a:lnTo>
                  <a:lnTo>
                    <a:pt x="411486" y="295909"/>
                  </a:lnTo>
                  <a:lnTo>
                    <a:pt x="396240" y="287019"/>
                  </a:lnTo>
                  <a:lnTo>
                    <a:pt x="400430" y="281939"/>
                  </a:lnTo>
                  <a:lnTo>
                    <a:pt x="405765" y="278129"/>
                  </a:lnTo>
                  <a:lnTo>
                    <a:pt x="412369" y="276859"/>
                  </a:lnTo>
                  <a:lnTo>
                    <a:pt x="418846" y="274319"/>
                  </a:lnTo>
                  <a:lnTo>
                    <a:pt x="445770" y="274319"/>
                  </a:lnTo>
                  <a:lnTo>
                    <a:pt x="443738" y="271779"/>
                  </a:lnTo>
                  <a:lnTo>
                    <a:pt x="440817" y="269239"/>
                  </a:lnTo>
                  <a:lnTo>
                    <a:pt x="437261" y="266699"/>
                  </a:lnTo>
                  <a:lnTo>
                    <a:pt x="429980" y="264159"/>
                  </a:lnTo>
                  <a:lnTo>
                    <a:pt x="422259" y="262889"/>
                  </a:lnTo>
                  <a:close/>
                </a:path>
                <a:path w="455295" h="358139">
                  <a:moveTo>
                    <a:pt x="411486" y="295909"/>
                  </a:moveTo>
                  <a:lnTo>
                    <a:pt x="389763" y="295909"/>
                  </a:lnTo>
                  <a:lnTo>
                    <a:pt x="444119" y="327659"/>
                  </a:lnTo>
                  <a:lnTo>
                    <a:pt x="447040" y="322579"/>
                  </a:lnTo>
                  <a:lnTo>
                    <a:pt x="450850" y="314959"/>
                  </a:lnTo>
                  <a:lnTo>
                    <a:pt x="451764" y="312419"/>
                  </a:lnTo>
                  <a:lnTo>
                    <a:pt x="439800" y="312419"/>
                  </a:lnTo>
                  <a:lnTo>
                    <a:pt x="411486" y="295909"/>
                  </a:lnTo>
                  <a:close/>
                </a:path>
                <a:path w="455295" h="358139">
                  <a:moveTo>
                    <a:pt x="298957" y="271779"/>
                  </a:moveTo>
                  <a:lnTo>
                    <a:pt x="289941" y="281939"/>
                  </a:lnTo>
                  <a:lnTo>
                    <a:pt x="295227" y="289559"/>
                  </a:lnTo>
                  <a:lnTo>
                    <a:pt x="301180" y="295909"/>
                  </a:lnTo>
                  <a:lnTo>
                    <a:pt x="307800" y="302259"/>
                  </a:lnTo>
                  <a:lnTo>
                    <a:pt x="315087" y="307339"/>
                  </a:lnTo>
                  <a:lnTo>
                    <a:pt x="320548" y="309879"/>
                  </a:lnTo>
                  <a:lnTo>
                    <a:pt x="325881" y="312419"/>
                  </a:lnTo>
                  <a:lnTo>
                    <a:pt x="330707" y="312419"/>
                  </a:lnTo>
                  <a:lnTo>
                    <a:pt x="335661" y="313689"/>
                  </a:lnTo>
                  <a:lnTo>
                    <a:pt x="339851" y="313689"/>
                  </a:lnTo>
                  <a:lnTo>
                    <a:pt x="346710" y="309879"/>
                  </a:lnTo>
                  <a:lnTo>
                    <a:pt x="349503" y="308609"/>
                  </a:lnTo>
                  <a:lnTo>
                    <a:pt x="351790" y="306069"/>
                  </a:lnTo>
                  <a:lnTo>
                    <a:pt x="354075" y="304799"/>
                  </a:lnTo>
                  <a:lnTo>
                    <a:pt x="355980" y="302259"/>
                  </a:lnTo>
                  <a:lnTo>
                    <a:pt x="356742" y="300989"/>
                  </a:lnTo>
                  <a:lnTo>
                    <a:pt x="331977" y="300989"/>
                  </a:lnTo>
                  <a:lnTo>
                    <a:pt x="327025" y="299719"/>
                  </a:lnTo>
                  <a:lnTo>
                    <a:pt x="306704" y="283209"/>
                  </a:lnTo>
                  <a:lnTo>
                    <a:pt x="305689" y="281939"/>
                  </a:lnTo>
                  <a:lnTo>
                    <a:pt x="304546" y="280669"/>
                  </a:lnTo>
                  <a:lnTo>
                    <a:pt x="302768" y="278129"/>
                  </a:lnTo>
                  <a:lnTo>
                    <a:pt x="302387" y="276859"/>
                  </a:lnTo>
                  <a:lnTo>
                    <a:pt x="301878" y="276859"/>
                  </a:lnTo>
                  <a:lnTo>
                    <a:pt x="301244" y="275589"/>
                  </a:lnTo>
                  <a:lnTo>
                    <a:pt x="300481" y="274319"/>
                  </a:lnTo>
                  <a:lnTo>
                    <a:pt x="299593" y="273049"/>
                  </a:lnTo>
                  <a:lnTo>
                    <a:pt x="298957" y="271779"/>
                  </a:lnTo>
                  <a:close/>
                </a:path>
                <a:path w="455295" h="358139">
                  <a:moveTo>
                    <a:pt x="445770" y="274319"/>
                  </a:moveTo>
                  <a:lnTo>
                    <a:pt x="425069" y="274319"/>
                  </a:lnTo>
                  <a:lnTo>
                    <a:pt x="431038" y="278129"/>
                  </a:lnTo>
                  <a:lnTo>
                    <a:pt x="432689" y="279399"/>
                  </a:lnTo>
                  <a:lnTo>
                    <a:pt x="437261" y="283209"/>
                  </a:lnTo>
                  <a:lnTo>
                    <a:pt x="438912" y="285749"/>
                  </a:lnTo>
                  <a:lnTo>
                    <a:pt x="440309" y="288289"/>
                  </a:lnTo>
                  <a:lnTo>
                    <a:pt x="441832" y="290829"/>
                  </a:lnTo>
                  <a:lnTo>
                    <a:pt x="442595" y="294639"/>
                  </a:lnTo>
                  <a:lnTo>
                    <a:pt x="442595" y="302259"/>
                  </a:lnTo>
                  <a:lnTo>
                    <a:pt x="441705" y="307339"/>
                  </a:lnTo>
                  <a:lnTo>
                    <a:pt x="439800" y="312419"/>
                  </a:lnTo>
                  <a:lnTo>
                    <a:pt x="451764" y="312419"/>
                  </a:lnTo>
                  <a:lnTo>
                    <a:pt x="453136" y="308609"/>
                  </a:lnTo>
                  <a:lnTo>
                    <a:pt x="454914" y="295909"/>
                  </a:lnTo>
                  <a:lnTo>
                    <a:pt x="454812" y="294639"/>
                  </a:lnTo>
                  <a:lnTo>
                    <a:pt x="454710" y="293369"/>
                  </a:lnTo>
                  <a:lnTo>
                    <a:pt x="454609" y="292099"/>
                  </a:lnTo>
                  <a:lnTo>
                    <a:pt x="454507" y="290829"/>
                  </a:lnTo>
                  <a:lnTo>
                    <a:pt x="454405" y="289559"/>
                  </a:lnTo>
                  <a:lnTo>
                    <a:pt x="452754" y="285749"/>
                  </a:lnTo>
                  <a:lnTo>
                    <a:pt x="450976" y="280669"/>
                  </a:lnTo>
                  <a:lnTo>
                    <a:pt x="448818" y="278129"/>
                  </a:lnTo>
                  <a:lnTo>
                    <a:pt x="445770" y="274319"/>
                  </a:lnTo>
                  <a:close/>
                </a:path>
                <a:path w="455295" h="358139">
                  <a:moveTo>
                    <a:pt x="342519" y="217169"/>
                  </a:moveTo>
                  <a:lnTo>
                    <a:pt x="338454" y="217169"/>
                  </a:lnTo>
                  <a:lnTo>
                    <a:pt x="335025" y="218439"/>
                  </a:lnTo>
                  <a:lnTo>
                    <a:pt x="331724" y="219709"/>
                  </a:lnTo>
                  <a:lnTo>
                    <a:pt x="328929" y="222249"/>
                  </a:lnTo>
                  <a:lnTo>
                    <a:pt x="326644" y="223519"/>
                  </a:lnTo>
                  <a:lnTo>
                    <a:pt x="324485" y="226059"/>
                  </a:lnTo>
                  <a:lnTo>
                    <a:pt x="322579" y="228599"/>
                  </a:lnTo>
                  <a:lnTo>
                    <a:pt x="321055" y="231139"/>
                  </a:lnTo>
                  <a:lnTo>
                    <a:pt x="317880" y="236219"/>
                  </a:lnTo>
                  <a:lnTo>
                    <a:pt x="317119" y="242569"/>
                  </a:lnTo>
                  <a:lnTo>
                    <a:pt x="318643" y="247649"/>
                  </a:lnTo>
                  <a:lnTo>
                    <a:pt x="320040" y="253999"/>
                  </a:lnTo>
                  <a:lnTo>
                    <a:pt x="322834" y="259079"/>
                  </a:lnTo>
                  <a:lnTo>
                    <a:pt x="326644" y="262889"/>
                  </a:lnTo>
                  <a:lnTo>
                    <a:pt x="330835" y="266699"/>
                  </a:lnTo>
                  <a:lnTo>
                    <a:pt x="334391" y="270509"/>
                  </a:lnTo>
                  <a:lnTo>
                    <a:pt x="338074" y="273049"/>
                  </a:lnTo>
                  <a:lnTo>
                    <a:pt x="340232" y="275589"/>
                  </a:lnTo>
                  <a:lnTo>
                    <a:pt x="341249" y="276859"/>
                  </a:lnTo>
                  <a:lnTo>
                    <a:pt x="343153" y="278129"/>
                  </a:lnTo>
                  <a:lnTo>
                    <a:pt x="344677" y="280669"/>
                  </a:lnTo>
                  <a:lnTo>
                    <a:pt x="345694" y="284479"/>
                  </a:lnTo>
                  <a:lnTo>
                    <a:pt x="346582" y="287019"/>
                  </a:lnTo>
                  <a:lnTo>
                    <a:pt x="346498" y="288289"/>
                  </a:lnTo>
                  <a:lnTo>
                    <a:pt x="346413" y="289559"/>
                  </a:lnTo>
                  <a:lnTo>
                    <a:pt x="346328" y="290829"/>
                  </a:lnTo>
                  <a:lnTo>
                    <a:pt x="344550" y="293369"/>
                  </a:lnTo>
                  <a:lnTo>
                    <a:pt x="342773" y="297179"/>
                  </a:lnTo>
                  <a:lnTo>
                    <a:pt x="339978" y="298449"/>
                  </a:lnTo>
                  <a:lnTo>
                    <a:pt x="335915" y="299719"/>
                  </a:lnTo>
                  <a:lnTo>
                    <a:pt x="331977" y="300989"/>
                  </a:lnTo>
                  <a:lnTo>
                    <a:pt x="356742" y="300989"/>
                  </a:lnTo>
                  <a:lnTo>
                    <a:pt x="360552" y="294639"/>
                  </a:lnTo>
                  <a:lnTo>
                    <a:pt x="361696" y="288289"/>
                  </a:lnTo>
                  <a:lnTo>
                    <a:pt x="360172" y="278129"/>
                  </a:lnTo>
                  <a:lnTo>
                    <a:pt x="358267" y="273049"/>
                  </a:lnTo>
                  <a:lnTo>
                    <a:pt x="355092" y="269239"/>
                  </a:lnTo>
                  <a:lnTo>
                    <a:pt x="353441" y="266699"/>
                  </a:lnTo>
                  <a:lnTo>
                    <a:pt x="350139" y="262889"/>
                  </a:lnTo>
                  <a:lnTo>
                    <a:pt x="345059" y="259079"/>
                  </a:lnTo>
                  <a:lnTo>
                    <a:pt x="339978" y="253999"/>
                  </a:lnTo>
                  <a:lnTo>
                    <a:pt x="336423" y="250189"/>
                  </a:lnTo>
                  <a:lnTo>
                    <a:pt x="334264" y="247649"/>
                  </a:lnTo>
                  <a:lnTo>
                    <a:pt x="332104" y="243839"/>
                  </a:lnTo>
                  <a:lnTo>
                    <a:pt x="332104" y="240029"/>
                  </a:lnTo>
                  <a:lnTo>
                    <a:pt x="334391" y="236219"/>
                  </a:lnTo>
                  <a:lnTo>
                    <a:pt x="336042" y="233679"/>
                  </a:lnTo>
                  <a:lnTo>
                    <a:pt x="338581" y="231139"/>
                  </a:lnTo>
                  <a:lnTo>
                    <a:pt x="342138" y="229869"/>
                  </a:lnTo>
                  <a:lnTo>
                    <a:pt x="371107" y="229869"/>
                  </a:lnTo>
                  <a:lnTo>
                    <a:pt x="369192" y="228599"/>
                  </a:lnTo>
                  <a:lnTo>
                    <a:pt x="363093" y="224789"/>
                  </a:lnTo>
                  <a:lnTo>
                    <a:pt x="357504" y="220979"/>
                  </a:lnTo>
                  <a:lnTo>
                    <a:pt x="352298" y="218439"/>
                  </a:lnTo>
                  <a:lnTo>
                    <a:pt x="347472" y="218439"/>
                  </a:lnTo>
                  <a:lnTo>
                    <a:pt x="342519" y="217169"/>
                  </a:lnTo>
                  <a:close/>
                </a:path>
                <a:path w="455295" h="358139">
                  <a:moveTo>
                    <a:pt x="282448" y="180339"/>
                  </a:moveTo>
                  <a:lnTo>
                    <a:pt x="236727" y="259079"/>
                  </a:lnTo>
                  <a:lnTo>
                    <a:pt x="249809" y="266699"/>
                  </a:lnTo>
                  <a:lnTo>
                    <a:pt x="270764" y="229869"/>
                  </a:lnTo>
                  <a:lnTo>
                    <a:pt x="274193" y="224789"/>
                  </a:lnTo>
                  <a:lnTo>
                    <a:pt x="301371" y="210819"/>
                  </a:lnTo>
                  <a:lnTo>
                    <a:pt x="322213" y="210819"/>
                  </a:lnTo>
                  <a:lnTo>
                    <a:pt x="325881" y="204469"/>
                  </a:lnTo>
                  <a:lnTo>
                    <a:pt x="323976" y="203199"/>
                  </a:lnTo>
                  <a:lnTo>
                    <a:pt x="285623" y="203199"/>
                  </a:lnTo>
                  <a:lnTo>
                    <a:pt x="294640" y="186689"/>
                  </a:lnTo>
                  <a:lnTo>
                    <a:pt x="282448" y="180339"/>
                  </a:lnTo>
                  <a:close/>
                </a:path>
                <a:path w="455295" h="358139">
                  <a:moveTo>
                    <a:pt x="371107" y="229869"/>
                  </a:moveTo>
                  <a:lnTo>
                    <a:pt x="345567" y="229869"/>
                  </a:lnTo>
                  <a:lnTo>
                    <a:pt x="350012" y="231139"/>
                  </a:lnTo>
                  <a:lnTo>
                    <a:pt x="355346" y="233679"/>
                  </a:lnTo>
                  <a:lnTo>
                    <a:pt x="356743" y="234949"/>
                  </a:lnTo>
                  <a:lnTo>
                    <a:pt x="358013" y="234949"/>
                  </a:lnTo>
                  <a:lnTo>
                    <a:pt x="359028" y="236219"/>
                  </a:lnTo>
                  <a:lnTo>
                    <a:pt x="360172" y="236219"/>
                  </a:lnTo>
                  <a:lnTo>
                    <a:pt x="361188" y="237489"/>
                  </a:lnTo>
                  <a:lnTo>
                    <a:pt x="362076" y="237489"/>
                  </a:lnTo>
                  <a:lnTo>
                    <a:pt x="362839" y="238759"/>
                  </a:lnTo>
                  <a:lnTo>
                    <a:pt x="364744" y="240029"/>
                  </a:lnTo>
                  <a:lnTo>
                    <a:pt x="365632" y="241299"/>
                  </a:lnTo>
                  <a:lnTo>
                    <a:pt x="366395" y="241299"/>
                  </a:lnTo>
                  <a:lnTo>
                    <a:pt x="367029" y="242569"/>
                  </a:lnTo>
                  <a:lnTo>
                    <a:pt x="367538" y="242569"/>
                  </a:lnTo>
                  <a:lnTo>
                    <a:pt x="368173" y="243839"/>
                  </a:lnTo>
                  <a:lnTo>
                    <a:pt x="369062" y="243839"/>
                  </a:lnTo>
                  <a:lnTo>
                    <a:pt x="369824" y="245109"/>
                  </a:lnTo>
                  <a:lnTo>
                    <a:pt x="370459" y="246379"/>
                  </a:lnTo>
                  <a:lnTo>
                    <a:pt x="371094" y="246379"/>
                  </a:lnTo>
                  <a:lnTo>
                    <a:pt x="371728" y="247649"/>
                  </a:lnTo>
                  <a:lnTo>
                    <a:pt x="372491" y="248919"/>
                  </a:lnTo>
                  <a:lnTo>
                    <a:pt x="373379" y="250189"/>
                  </a:lnTo>
                  <a:lnTo>
                    <a:pt x="373761" y="250189"/>
                  </a:lnTo>
                  <a:lnTo>
                    <a:pt x="374015" y="251459"/>
                  </a:lnTo>
                  <a:lnTo>
                    <a:pt x="374523" y="251459"/>
                  </a:lnTo>
                  <a:lnTo>
                    <a:pt x="376300" y="253999"/>
                  </a:lnTo>
                  <a:lnTo>
                    <a:pt x="376809" y="255269"/>
                  </a:lnTo>
                  <a:lnTo>
                    <a:pt x="385445" y="243839"/>
                  </a:lnTo>
                  <a:lnTo>
                    <a:pt x="380345" y="238759"/>
                  </a:lnTo>
                  <a:lnTo>
                    <a:pt x="374935" y="232409"/>
                  </a:lnTo>
                  <a:lnTo>
                    <a:pt x="371107" y="229869"/>
                  </a:lnTo>
                  <a:close/>
                </a:path>
                <a:path w="455295" h="358139">
                  <a:moveTo>
                    <a:pt x="209518" y="139699"/>
                  </a:moveTo>
                  <a:lnTo>
                    <a:pt x="200822" y="139699"/>
                  </a:lnTo>
                  <a:lnTo>
                    <a:pt x="191770" y="140969"/>
                  </a:lnTo>
                  <a:lnTo>
                    <a:pt x="159021" y="173989"/>
                  </a:lnTo>
                  <a:lnTo>
                    <a:pt x="156406" y="191769"/>
                  </a:lnTo>
                  <a:lnTo>
                    <a:pt x="157861" y="200659"/>
                  </a:lnTo>
                  <a:lnTo>
                    <a:pt x="185882" y="231139"/>
                  </a:lnTo>
                  <a:lnTo>
                    <a:pt x="194103" y="233679"/>
                  </a:lnTo>
                  <a:lnTo>
                    <a:pt x="202682" y="233679"/>
                  </a:lnTo>
                  <a:lnTo>
                    <a:pt x="220204" y="228599"/>
                  </a:lnTo>
                  <a:lnTo>
                    <a:pt x="227790" y="223519"/>
                  </a:lnTo>
                  <a:lnTo>
                    <a:pt x="230415" y="220979"/>
                  </a:lnTo>
                  <a:lnTo>
                    <a:pt x="198374" y="220979"/>
                  </a:lnTo>
                  <a:lnTo>
                    <a:pt x="191007" y="219709"/>
                  </a:lnTo>
                  <a:lnTo>
                    <a:pt x="184530" y="215899"/>
                  </a:lnTo>
                  <a:lnTo>
                    <a:pt x="177926" y="212089"/>
                  </a:lnTo>
                  <a:lnTo>
                    <a:pt x="173736" y="207009"/>
                  </a:lnTo>
                  <a:lnTo>
                    <a:pt x="171703" y="198119"/>
                  </a:lnTo>
                  <a:lnTo>
                    <a:pt x="171013" y="191769"/>
                  </a:lnTo>
                  <a:lnTo>
                    <a:pt x="171799" y="185419"/>
                  </a:lnTo>
                  <a:lnTo>
                    <a:pt x="198120" y="153669"/>
                  </a:lnTo>
                  <a:lnTo>
                    <a:pt x="205994" y="151129"/>
                  </a:lnTo>
                  <a:lnTo>
                    <a:pt x="234500" y="151129"/>
                  </a:lnTo>
                  <a:lnTo>
                    <a:pt x="233336" y="149859"/>
                  </a:lnTo>
                  <a:lnTo>
                    <a:pt x="225932" y="144779"/>
                  </a:lnTo>
                  <a:lnTo>
                    <a:pt x="217880" y="140969"/>
                  </a:lnTo>
                  <a:lnTo>
                    <a:pt x="209518" y="139699"/>
                  </a:lnTo>
                  <a:close/>
                </a:path>
                <a:path w="455295" h="358139">
                  <a:moveTo>
                    <a:pt x="234500" y="151129"/>
                  </a:moveTo>
                  <a:lnTo>
                    <a:pt x="205994" y="151129"/>
                  </a:lnTo>
                  <a:lnTo>
                    <a:pt x="213232" y="152399"/>
                  </a:lnTo>
                  <a:lnTo>
                    <a:pt x="219582" y="156209"/>
                  </a:lnTo>
                  <a:lnTo>
                    <a:pt x="226187" y="160019"/>
                  </a:lnTo>
                  <a:lnTo>
                    <a:pt x="230504" y="165099"/>
                  </a:lnTo>
                  <a:lnTo>
                    <a:pt x="232664" y="172719"/>
                  </a:lnTo>
                  <a:lnTo>
                    <a:pt x="233545" y="179069"/>
                  </a:lnTo>
                  <a:lnTo>
                    <a:pt x="232949" y="185419"/>
                  </a:lnTo>
                  <a:lnTo>
                    <a:pt x="206375" y="218439"/>
                  </a:lnTo>
                  <a:lnTo>
                    <a:pt x="198374" y="220979"/>
                  </a:lnTo>
                  <a:lnTo>
                    <a:pt x="230415" y="220979"/>
                  </a:lnTo>
                  <a:lnTo>
                    <a:pt x="246975" y="182879"/>
                  </a:lnTo>
                  <a:lnTo>
                    <a:pt x="245999" y="173989"/>
                  </a:lnTo>
                  <a:lnTo>
                    <a:pt x="243381" y="165099"/>
                  </a:lnTo>
                  <a:lnTo>
                    <a:pt x="239156" y="156209"/>
                  </a:lnTo>
                  <a:lnTo>
                    <a:pt x="234500" y="151129"/>
                  </a:lnTo>
                  <a:close/>
                </a:path>
                <a:path w="455295" h="358139">
                  <a:moveTo>
                    <a:pt x="322213" y="210819"/>
                  </a:moveTo>
                  <a:lnTo>
                    <a:pt x="305562" y="210819"/>
                  </a:lnTo>
                  <a:lnTo>
                    <a:pt x="309118" y="212089"/>
                  </a:lnTo>
                  <a:lnTo>
                    <a:pt x="312800" y="213359"/>
                  </a:lnTo>
                  <a:lnTo>
                    <a:pt x="316102" y="214629"/>
                  </a:lnTo>
                  <a:lnTo>
                    <a:pt x="319277" y="215899"/>
                  </a:lnTo>
                  <a:lnTo>
                    <a:pt x="322213" y="210819"/>
                  </a:lnTo>
                  <a:close/>
                </a:path>
                <a:path w="455295" h="358139">
                  <a:moveTo>
                    <a:pt x="308228" y="198119"/>
                  </a:moveTo>
                  <a:lnTo>
                    <a:pt x="297561" y="198119"/>
                  </a:lnTo>
                  <a:lnTo>
                    <a:pt x="291211" y="200659"/>
                  </a:lnTo>
                  <a:lnTo>
                    <a:pt x="288290" y="201929"/>
                  </a:lnTo>
                  <a:lnTo>
                    <a:pt x="285623" y="203199"/>
                  </a:lnTo>
                  <a:lnTo>
                    <a:pt x="323976" y="203199"/>
                  </a:lnTo>
                  <a:lnTo>
                    <a:pt x="320167" y="200659"/>
                  </a:lnTo>
                  <a:lnTo>
                    <a:pt x="308228" y="198119"/>
                  </a:lnTo>
                  <a:close/>
                </a:path>
                <a:path w="455295" h="358139">
                  <a:moveTo>
                    <a:pt x="185912" y="73659"/>
                  </a:moveTo>
                  <a:lnTo>
                    <a:pt x="167894" y="73659"/>
                  </a:lnTo>
                  <a:lnTo>
                    <a:pt x="164719" y="78739"/>
                  </a:lnTo>
                  <a:lnTo>
                    <a:pt x="104648" y="182879"/>
                  </a:lnTo>
                  <a:lnTo>
                    <a:pt x="118364" y="190499"/>
                  </a:lnTo>
                  <a:lnTo>
                    <a:pt x="185912" y="73659"/>
                  </a:lnTo>
                  <a:close/>
                </a:path>
                <a:path w="455295" h="358139">
                  <a:moveTo>
                    <a:pt x="89025" y="20319"/>
                  </a:moveTo>
                  <a:lnTo>
                    <a:pt x="77089" y="20319"/>
                  </a:lnTo>
                  <a:lnTo>
                    <a:pt x="75537" y="26669"/>
                  </a:lnTo>
                  <a:lnTo>
                    <a:pt x="73533" y="35559"/>
                  </a:lnTo>
                  <a:lnTo>
                    <a:pt x="71052" y="48259"/>
                  </a:lnTo>
                  <a:lnTo>
                    <a:pt x="68072" y="64769"/>
                  </a:lnTo>
                  <a:lnTo>
                    <a:pt x="54864" y="148589"/>
                  </a:lnTo>
                  <a:lnTo>
                    <a:pt x="67564" y="156209"/>
                  </a:lnTo>
                  <a:lnTo>
                    <a:pt x="88028" y="139699"/>
                  </a:lnTo>
                  <a:lnTo>
                    <a:pt x="68452" y="139699"/>
                  </a:lnTo>
                  <a:lnTo>
                    <a:pt x="69691" y="135889"/>
                  </a:lnTo>
                  <a:lnTo>
                    <a:pt x="71500" y="126999"/>
                  </a:lnTo>
                  <a:lnTo>
                    <a:pt x="73882" y="114299"/>
                  </a:lnTo>
                  <a:lnTo>
                    <a:pt x="76835" y="97789"/>
                  </a:lnTo>
                  <a:lnTo>
                    <a:pt x="89025" y="20319"/>
                  </a:lnTo>
                  <a:close/>
                </a:path>
                <a:path w="455295" h="358139">
                  <a:moveTo>
                    <a:pt x="168655" y="57149"/>
                  </a:moveTo>
                  <a:lnTo>
                    <a:pt x="100838" y="111759"/>
                  </a:lnTo>
                  <a:lnTo>
                    <a:pt x="88386" y="121919"/>
                  </a:lnTo>
                  <a:lnTo>
                    <a:pt x="78851" y="130809"/>
                  </a:lnTo>
                  <a:lnTo>
                    <a:pt x="72245" y="135889"/>
                  </a:lnTo>
                  <a:lnTo>
                    <a:pt x="68452" y="139699"/>
                  </a:lnTo>
                  <a:lnTo>
                    <a:pt x="88028" y="139699"/>
                  </a:lnTo>
                  <a:lnTo>
                    <a:pt x="135254" y="101599"/>
                  </a:lnTo>
                  <a:lnTo>
                    <a:pt x="162432" y="78739"/>
                  </a:lnTo>
                  <a:lnTo>
                    <a:pt x="167894" y="73659"/>
                  </a:lnTo>
                  <a:lnTo>
                    <a:pt x="185912" y="73659"/>
                  </a:lnTo>
                  <a:lnTo>
                    <a:pt x="188849" y="68579"/>
                  </a:lnTo>
                  <a:lnTo>
                    <a:pt x="168655" y="57149"/>
                  </a:lnTo>
                  <a:close/>
                </a:path>
                <a:path w="455295" h="358139">
                  <a:moveTo>
                    <a:pt x="70485" y="0"/>
                  </a:moveTo>
                  <a:lnTo>
                    <a:pt x="0" y="121919"/>
                  </a:lnTo>
                  <a:lnTo>
                    <a:pt x="13716" y="129539"/>
                  </a:lnTo>
                  <a:lnTo>
                    <a:pt x="77089" y="20319"/>
                  </a:lnTo>
                  <a:lnTo>
                    <a:pt x="89025" y="20319"/>
                  </a:lnTo>
                  <a:lnTo>
                    <a:pt x="90424" y="11429"/>
                  </a:lnTo>
                  <a:lnTo>
                    <a:pt x="7048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74456" y="4375277"/>
              <a:ext cx="623189" cy="5449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5" dirty="0"/>
              <a:t>Summary</a:t>
            </a:r>
            <a:r>
              <a:rPr spc="-12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70" dirty="0"/>
              <a:t>Central</a:t>
            </a:r>
            <a:r>
              <a:rPr spc="-105" dirty="0"/>
              <a:t> </a:t>
            </a:r>
            <a:r>
              <a:rPr spc="-95" dirty="0"/>
              <a:t>force</a:t>
            </a:r>
            <a:r>
              <a:rPr spc="-114" dirty="0"/>
              <a:t> </a:t>
            </a:r>
            <a:r>
              <a:rPr spc="-85" dirty="0"/>
              <a:t>potentials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9927" y="1386840"/>
            <a:ext cx="8772143" cy="47152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29768"/>
            <a:ext cx="85839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0" dirty="0"/>
              <a:t>Advantages</a:t>
            </a:r>
            <a:r>
              <a:rPr spc="30" dirty="0"/>
              <a:t> </a:t>
            </a:r>
            <a:r>
              <a:rPr spc="380" dirty="0"/>
              <a:t>&amp;</a:t>
            </a:r>
            <a:r>
              <a:rPr spc="70" dirty="0"/>
              <a:t> </a:t>
            </a:r>
            <a:r>
              <a:rPr spc="-220" dirty="0"/>
              <a:t>disadvantages</a:t>
            </a:r>
            <a:r>
              <a:rPr spc="40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65" dirty="0"/>
              <a:t>CFP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834" y="1064619"/>
            <a:ext cx="11400197" cy="5220788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9059545" lvl="0" defTabSz="914400" eaLnBrk="1" fontAlgn="auto" latinLnBrk="0" hangingPunct="1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Tx/>
              <a:buSzTx/>
              <a:tabLst>
                <a:tab pos="227965" algn="l"/>
              </a:tabLst>
              <a:defRPr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9059545" lvl="0" indent="-342900" defTabSz="914400" eaLnBrk="1" fontAlgn="auto" latinLnBrk="0" hangingPunct="1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27965" algn="l"/>
              </a:tabLst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</a:p>
          <a:p>
            <a:pPr marL="800100" marR="9059545" lvl="1" indent="-342900">
              <a:spcBef>
                <a:spcPts val="395"/>
              </a:spcBef>
              <a:buFont typeface="Arial" panose="020B0604020202020204" pitchFamily="34" charset="0"/>
              <a:buChar char="•"/>
              <a:tabLst>
                <a:tab pos="227965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Simplicity</a:t>
            </a:r>
          </a:p>
          <a:p>
            <a:pPr marL="697230" marR="0" lvl="1" indent="-227329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9723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Ability to make easy models and hypothetical systems</a:t>
            </a:r>
          </a:p>
          <a:p>
            <a:pPr marL="697230" marR="0" lvl="1" indent="-227329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9723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Computational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ease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1885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0665" marR="0" lvl="0" indent="-22796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</a:p>
          <a:p>
            <a:pPr marL="697230" marR="0" lvl="1" indent="-227329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9723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Problem of accuracy</a:t>
            </a:r>
          </a:p>
          <a:p>
            <a:pPr marL="697230" marR="5080" lvl="1" indent="-227329" defTabSz="914400" eaLnBrk="1" fontAlgn="auto" latinLnBrk="0" hangingPunct="1">
              <a:lnSpc>
                <a:spcPct val="90100"/>
              </a:lnSpc>
              <a:spcBef>
                <a:spcPts val="4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9850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 use of the common Lennard-Jones potential limited to inert gases, where no electrons are available for bonding &amp; atoms are attracted to each other only through van der Waals forces.</a:t>
            </a:r>
          </a:p>
          <a:p>
            <a:pPr marL="697230" marR="36830" lvl="1" indent="-227329" defTabSz="914400" eaLnBrk="1" fontAlgn="auto" latinLnBrk="0" hangingPunct="1">
              <a:lnSpc>
                <a:spcPts val="2590"/>
              </a:lnSpc>
              <a:spcBef>
                <a:spcPts val="54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9850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Problems in metallically, ionically and covalently bonded systems with respect to cohesive energy, elastic constants, etc.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Many-</a:t>
            </a:r>
            <a:r>
              <a:rPr spc="-85" dirty="0"/>
              <a:t>body</a:t>
            </a:r>
            <a:r>
              <a:rPr spc="-195" dirty="0"/>
              <a:t> </a:t>
            </a:r>
            <a:r>
              <a:rPr spc="-100" dirty="0"/>
              <a:t>potentials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8734" y="1028852"/>
            <a:ext cx="11603550" cy="51771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78765" marR="0" lvl="0" indent="-227965" defTabSz="914400" eaLnBrk="1" fontAlgn="auto" latinLnBrk="0" hangingPunct="1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78765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Many of these potentials are also called bond order potentials</a:t>
            </a:r>
          </a:p>
          <a:p>
            <a:pPr marL="278130" marR="43180" lvl="0" indent="-227965" defTabSz="914400" eaLnBrk="1" fontAlgn="auto" latinLnBrk="0" hangingPunct="1">
              <a:lnSpc>
                <a:spcPts val="269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7940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Based on Pauling’s concept of bond-order, i.e., the strength of a chemical 	bond depends on the bonding environment, including the number of bonds and possibly also angles and bond length</a:t>
            </a:r>
          </a:p>
          <a:p>
            <a:pPr marL="278765" marR="0" lvl="0" indent="-227965" defTabSz="914400" eaLnBrk="1" fontAlgn="auto" latinLnBrk="0" hangingPunct="1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78765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General equation of form…</a:t>
            </a:r>
          </a:p>
          <a:p>
            <a:pPr marL="3708400" marR="0" lvl="0" indent="0" defTabSz="91440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0" b="0" i="0" u="none" strike="noStrike" kern="0" cap="none" spc="97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𝜙</a:t>
            </a:r>
            <a:r>
              <a:rPr kumimoji="0" sz="185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𝑖𝑗</a:t>
            </a:r>
            <a:r>
              <a:rPr kumimoji="0" sz="185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 </a:t>
            </a:r>
            <a:r>
              <a:rPr kumimoji="0" sz="4200" b="0" i="0" u="none" strike="noStrike" kern="0" cap="none" spc="78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4200" b="0" i="0" u="none" strike="noStrike" kern="0" cap="none" spc="209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4200" b="0" i="0" u="none" strike="noStrike" kern="0" cap="none" spc="135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𝜙</a:t>
            </a:r>
            <a:r>
              <a:rPr kumimoji="0" sz="185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𝑟𝑒𝑝𝑢𝑙𝑠𝑖𝑣𝑒</a:t>
            </a:r>
            <a:r>
              <a:rPr kumimoji="0" sz="4200" b="0" i="0" u="none" strike="noStrike" kern="0" cap="none" spc="135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</a:t>
            </a:r>
            <a:r>
              <a:rPr kumimoji="0" sz="4200" b="0" i="0" u="none" strike="noStrike" kern="0" cap="none" spc="135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𝑟</a:t>
            </a:r>
            <a:r>
              <a:rPr kumimoji="0" sz="185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𝑖𝑗</a:t>
            </a:r>
            <a:r>
              <a:rPr kumimoji="0" sz="4200" b="0" i="0" u="none" strike="noStrike" kern="0" cap="none" spc="135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r>
              <a:rPr kumimoji="0" sz="4200" b="0" i="0" u="none" strike="noStrike" kern="0" cap="none" spc="209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4200" b="0" i="0" u="none" strike="noStrike" kern="0" cap="none" spc="78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4200" b="0" i="0" u="none" strike="noStrike" kern="0" cap="none" spc="209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4200" b="0" i="0" u="none" strike="noStrike" kern="0" cap="none" spc="97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𝑏</a:t>
            </a:r>
            <a:r>
              <a:rPr kumimoji="0" sz="185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𝑖𝑗𝑘</a:t>
            </a:r>
            <a:r>
              <a:rPr kumimoji="0" sz="4200" b="0" i="0" u="none" strike="noStrike" kern="0" cap="none" spc="97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𝜙</a:t>
            </a:r>
            <a:r>
              <a:rPr kumimoji="0" sz="185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𝑎𝑡𝑡𝑟𝑎𝑐𝑡𝑖𝑣𝑒</a:t>
            </a:r>
            <a:r>
              <a:rPr kumimoji="0" sz="4200" b="0" i="0" u="none" strike="noStrike" kern="0" cap="none" spc="97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</a:t>
            </a:r>
            <a:r>
              <a:rPr kumimoji="0" sz="4200" b="0" i="0" u="none" strike="noStrike" kern="0" cap="none" spc="97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𝑟</a:t>
            </a:r>
            <a:r>
              <a:rPr kumimoji="0" sz="185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TIX Two Math"/>
                <a:cs typeface="STIX Two Math"/>
              </a:rPr>
              <a:t>𝑖𝑗</a:t>
            </a:r>
            <a:r>
              <a:rPr kumimoji="0" sz="4200" b="0" i="0" u="none" strike="noStrike" kern="0" cap="none" spc="97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sz="4200" b="0" i="0" u="none" strike="noStrike" kern="0" cap="none" spc="0" normalizeH="0" baseline="13888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0800" marR="0" lvl="0" indent="0" defTabSz="914400" eaLnBrk="1" fontAlgn="auto" latinLnBrk="0" hangingPunct="1">
              <a:lnSpc>
                <a:spcPts val="3345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Different types of bond order potentials</a:t>
            </a:r>
          </a:p>
          <a:p>
            <a:pPr marL="735330" marR="389890" lvl="1" indent="-227329" defTabSz="914400" eaLnBrk="1" fontAlgn="auto" latinLnBrk="0" hangingPunct="1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73660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Embedded Atom Method (EAM) or Glue potentials: Based on effective medium theory</a:t>
            </a:r>
          </a:p>
          <a:p>
            <a:pPr marL="735330" marR="127000" lvl="1" indent="-227329">
              <a:lnSpc>
                <a:spcPct val="80000"/>
              </a:lnSpc>
              <a:spcBef>
                <a:spcPts val="490"/>
              </a:spcBef>
              <a:buFontTx/>
              <a:buChar char="•"/>
              <a:tabLst>
                <a:tab pos="73660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Finnis-Sinclair Potential: Based on the tight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binding theory (linear combination of atomic orbitals or LCAO)</a:t>
            </a:r>
          </a:p>
          <a:p>
            <a:pPr marL="735330" marR="0" lvl="1" indent="-227329" defTabSz="914400" eaLnBrk="1" fontAlgn="auto" latinLnBrk="0" hangingPunct="1">
              <a:lnSpc>
                <a:spcPts val="2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73533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Tersoff and Stillinger-Weber potential: Incorporate bond directionality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5" dirty="0"/>
              <a:t>Embedded</a:t>
            </a:r>
            <a:r>
              <a:rPr spc="65" dirty="0"/>
              <a:t> </a:t>
            </a:r>
            <a:r>
              <a:rPr dirty="0"/>
              <a:t>Atom</a:t>
            </a:r>
            <a:r>
              <a:rPr spc="90" dirty="0"/>
              <a:t> </a:t>
            </a:r>
            <a:r>
              <a:rPr spc="-20" dirty="0"/>
              <a:t>Method</a:t>
            </a:r>
            <a:r>
              <a:rPr spc="80" dirty="0"/>
              <a:t> </a:t>
            </a:r>
            <a:r>
              <a:rPr spc="70" dirty="0"/>
              <a:t>(EAM)</a:t>
            </a:r>
            <a:r>
              <a:rPr spc="85" dirty="0"/>
              <a:t> </a:t>
            </a:r>
            <a:r>
              <a:rPr spc="-25" dirty="0"/>
              <a:t>potential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833" y="1028852"/>
            <a:ext cx="11609519" cy="4896853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665" lvl="0" indent="-227965">
              <a:spcBef>
                <a:spcPts val="425"/>
              </a:spcBef>
              <a:buFontTx/>
              <a:buChar char="•"/>
              <a:tabLst>
                <a:tab pos="240665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Typically, applicable for free-electron, sp-bonded, close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packed metals.</a:t>
            </a:r>
          </a:p>
          <a:p>
            <a:pPr marL="240665" marR="0" lvl="0" indent="-227965" defTabSz="914400" eaLnBrk="1" fontAlgn="auto" latinLnBrk="0" hangingPunct="1">
              <a:spcBef>
                <a:spcPts val="3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Also called glue potential (electrons as the glue holding nuclei together)</a:t>
            </a:r>
          </a:p>
          <a:p>
            <a:pPr marL="697230" marR="0" lvl="1" indent="-227329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9723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Closely related to the effective medium theory</a:t>
            </a:r>
          </a:p>
          <a:p>
            <a:pPr marL="697230" marR="548640" lvl="1" indent="-227329" defTabSz="914400" eaLnBrk="1" fontAlgn="auto" latinLnBrk="0" hangingPunct="1">
              <a:spcBef>
                <a:spcPts val="5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9850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Each atom is assumed to be embedded in the electron gas contributed by the atoms in the neighborhood. The local electron density is determined by the neighborhood</a:t>
            </a:r>
          </a:p>
          <a:p>
            <a:pPr marL="240665" marR="0" lvl="0" indent="-227965" defTabSz="914400" eaLnBrk="1" fontAlgn="auto" latinLnBrk="0" hangingPunct="1"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Each ion-core is associated with it’s own screening cloud of valence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electrons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pseudo atoms</a:t>
            </a:r>
          </a:p>
          <a:p>
            <a:pPr marL="239395" marR="5080" lvl="0" indent="-227329" defTabSz="914400" eaLnBrk="1" fontAlgn="auto" latinLnBrk="0" hangingPunct="1">
              <a:spcBef>
                <a:spcPts val="88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130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 pair potential is determined by ion-ion interactions and the extent of screening.</a:t>
            </a:r>
          </a:p>
          <a:p>
            <a:pPr marL="240029" marR="334645" lvl="0" indent="-227965">
              <a:spcBef>
                <a:spcPts val="1165"/>
              </a:spcBef>
              <a:buFontTx/>
              <a:buChar char="•"/>
              <a:tabLst>
                <a:tab pos="241300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h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igher the electron density,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greater the screening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smaller is the effective size of the pseudo atom and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weaker the ion-ion interaction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stronger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bonding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5" dirty="0"/>
              <a:t>Embedded</a:t>
            </a:r>
            <a:r>
              <a:rPr spc="80" dirty="0"/>
              <a:t> </a:t>
            </a:r>
            <a:r>
              <a:rPr dirty="0"/>
              <a:t>Atom</a:t>
            </a:r>
            <a:r>
              <a:rPr spc="100" dirty="0"/>
              <a:t> </a:t>
            </a:r>
            <a:r>
              <a:rPr spc="-60" dirty="0"/>
              <a:t>Model</a:t>
            </a:r>
            <a:r>
              <a:rPr spc="90" dirty="0"/>
              <a:t> </a:t>
            </a:r>
            <a:r>
              <a:rPr spc="70" dirty="0"/>
              <a:t>(EAM)</a:t>
            </a:r>
            <a:r>
              <a:rPr spc="100" dirty="0"/>
              <a:t> </a:t>
            </a:r>
            <a:r>
              <a:rPr spc="-20" dirty="0"/>
              <a:t>potential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834" y="1031874"/>
            <a:ext cx="7185025" cy="835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0" lvl="0" indent="-227965" defTabSz="914400" eaLnBrk="1" fontAlgn="auto" latinLnBrk="0" hangingPunct="1">
              <a:lnSpc>
                <a:spcPts val="319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</a:tabLst>
              <a:defRPr/>
            </a:pP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Metals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have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ionized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atom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cores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“sea”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0" defTabSz="914400" eaLnBrk="1" fontAlgn="auto" latinLnBrk="0" hangingPunct="1">
              <a:lnSpc>
                <a:spcPts val="3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delocalized</a:t>
            </a:r>
            <a:r>
              <a:rPr kumimoji="0" sz="2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valence</a:t>
            </a:r>
            <a:r>
              <a:rPr kumimoji="0" sz="2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electrons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5195" y="1024127"/>
            <a:ext cx="3848100" cy="37901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648" y="2122940"/>
            <a:ext cx="6492770" cy="26011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5601" y="5123283"/>
            <a:ext cx="4520209" cy="14114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84775" y="4972050"/>
            <a:ext cx="649478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109855" lvl="0" indent="-28702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99085" algn="l"/>
              </a:tabLst>
              <a:defRPr/>
            </a:pP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Pairwise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repulsive</a:t>
            </a:r>
            <a:r>
              <a:rPr kumimoji="0" sz="2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term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due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electrostatic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ion- 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core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interactions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99085" marR="5080" lvl="0" indent="-28702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9908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Attractive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“embedding”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energy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dependent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local</a:t>
            </a:r>
            <a:r>
              <a:rPr kumimoji="0" sz="24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electron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density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where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atom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 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embedded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EAM</a:t>
            </a:r>
            <a:r>
              <a:rPr spc="25" dirty="0"/>
              <a:t> </a:t>
            </a:r>
            <a:r>
              <a:rPr spc="-100" dirty="0"/>
              <a:t>potentials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0634" y="940208"/>
            <a:ext cx="7774730" cy="2242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spcBef>
                <a:spcPts val="105"/>
              </a:spcBef>
              <a:buFontTx/>
              <a:buChar char="•"/>
              <a:tabLst>
                <a:tab pos="24130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 pairwise and embedding functions are often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determined by fitting to experimental data.</a:t>
            </a:r>
          </a:p>
          <a:p>
            <a:pPr marL="241300" indent="-228600">
              <a:spcBef>
                <a:spcPts val="105"/>
              </a:spcBef>
              <a:buFontTx/>
              <a:buChar char="•"/>
              <a:tabLst>
                <a:tab pos="241300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functions can also be fit to data from first-principles calculations using information such as forces and cohesive energies of arbitrary crystal structures (e.g. BCC Nickel, HCP Gold)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7359" y="3429000"/>
            <a:ext cx="8126878" cy="250132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 marR="0" lvl="0" indent="-228600" defTabSz="914400" eaLnBrk="1" fontAlgn="auto" latinLnBrk="0" hangingPunct="1">
              <a:lnSpc>
                <a:spcPts val="2985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1750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Features:</a:t>
            </a:r>
          </a:p>
          <a:p>
            <a:pPr marL="774700" marR="0" lvl="1" indent="-228600" defTabSz="914400" eaLnBrk="1" fontAlgn="auto" latinLnBrk="0" hangingPunct="1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77470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Captures the effect of coordination on bond-strength.</a:t>
            </a:r>
          </a:p>
          <a:p>
            <a:pPr marL="774700" marR="0" lvl="1" indent="-228600" defTabSz="914400" eaLnBrk="1" fontAlgn="auto" latinLnBrk="0" hangingPunct="1">
              <a:lnSpc>
                <a:spcPts val="23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774700" algn="l"/>
              </a:tabLst>
              <a:defRPr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4700" marR="0" lvl="1" indent="-228600" defTabSz="914400" eaLnBrk="1" fontAlgn="auto" latinLnBrk="0" hangingPunct="1">
              <a:lnSpc>
                <a:spcPts val="23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77470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C12/C44 values predicted close to reality</a:t>
            </a:r>
          </a:p>
          <a:p>
            <a:pPr marL="774700" marR="0" lvl="1" indent="-228600" defTabSz="914400" eaLnBrk="1" fontAlgn="auto" latinLnBrk="0" hangingPunct="1">
              <a:lnSpc>
                <a:spcPts val="23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774700" algn="l"/>
              </a:tabLst>
              <a:defRPr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4700" lvl="1" indent="-228600">
              <a:lnSpc>
                <a:spcPts val="2345"/>
              </a:lnSpc>
              <a:buFontTx/>
              <a:buChar char="•"/>
              <a:tabLst>
                <a:tab pos="77470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Computational cost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only twice that of pair potentials</a:t>
            </a:r>
          </a:p>
          <a:p>
            <a:pPr marL="774700" marR="0" lvl="1" indent="-228600" defTabSz="914400" eaLnBrk="1" fontAlgn="auto" latinLnBrk="0" hangingPunct="1">
              <a:lnSpc>
                <a:spcPts val="2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774700" algn="l"/>
              </a:tabLst>
              <a:defRPr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4700" lvl="1" indent="-228600">
              <a:lnSpc>
                <a:spcPts val="2350"/>
              </a:lnSpc>
              <a:buFontTx/>
              <a:buChar char="•"/>
              <a:tabLst>
                <a:tab pos="77470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Works well only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sp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bonded metals.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5254" y="1100120"/>
            <a:ext cx="3841938" cy="54602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Modified-</a:t>
            </a:r>
            <a:r>
              <a:rPr dirty="0"/>
              <a:t>EAM</a:t>
            </a:r>
            <a:r>
              <a:rPr spc="80" dirty="0"/>
              <a:t> </a:t>
            </a:r>
            <a:r>
              <a:rPr spc="-95" dirty="0"/>
              <a:t>potentials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834" y="1113281"/>
            <a:ext cx="11047658" cy="23756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0029" marR="5080" lvl="0" indent="-227965" defTabSz="914400" eaLnBrk="1" fontAlgn="auto" latinLnBrk="0" hangingPunct="1">
              <a:spcBef>
                <a:spcPts val="44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130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eneralization of the embedded atom method.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0029" marR="5080" lvl="0" indent="-227965">
              <a:spcBef>
                <a:spcPts val="445"/>
              </a:spcBef>
              <a:buFontTx/>
              <a:buChar char="•"/>
              <a:tabLst>
                <a:tab pos="24130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MEAM potentials include angular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dependent interactions, which enter via the electron density term.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0029" marR="5080" lvl="0" indent="-227965">
              <a:spcBef>
                <a:spcPts val="445"/>
              </a:spcBef>
              <a:buFontTx/>
              <a:buChar char="•"/>
              <a:tabLst>
                <a:tab pos="241300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hese potentials can describe directional bonding, which is most apparent in covalent materials such as silicon and diamond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but also in e.g., body-centered cubic (BCC) metals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4120" y="4699759"/>
            <a:ext cx="10495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where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angular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dependence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via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electron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density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term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3692" y="3534649"/>
            <a:ext cx="4062984" cy="1036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5918" y="5374762"/>
            <a:ext cx="6630924" cy="11582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object 14"/>
          <p:cNvGrpSpPr/>
          <p:nvPr/>
        </p:nvGrpSpPr>
        <p:grpSpPr>
          <a:xfrm>
            <a:off x="7109752" y="4495003"/>
            <a:ext cx="3848100" cy="1903095"/>
            <a:chOff x="8255507" y="2768041"/>
            <a:chExt cx="3848100" cy="190309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3109" y="2768041"/>
              <a:ext cx="3475177" cy="87005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55507" y="3593591"/>
              <a:ext cx="3848100" cy="1077467"/>
            </a:xfrm>
            <a:prstGeom prst="rect">
              <a:avLst/>
            </a:prstGeom>
          </p:spPr>
        </p:pic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Bond</a:t>
            </a:r>
            <a:r>
              <a:rPr spc="-204" dirty="0"/>
              <a:t> </a:t>
            </a:r>
            <a:r>
              <a:rPr spc="-105" dirty="0"/>
              <a:t>order</a:t>
            </a:r>
            <a:r>
              <a:rPr spc="-200" dirty="0"/>
              <a:t> </a:t>
            </a:r>
            <a:r>
              <a:rPr spc="-70" dirty="0"/>
              <a:t>potentials</a:t>
            </a:r>
            <a:r>
              <a:rPr spc="-204" dirty="0"/>
              <a:t> </a:t>
            </a:r>
            <a:r>
              <a:rPr spc="-85" dirty="0"/>
              <a:t>(Covalent</a:t>
            </a:r>
            <a:r>
              <a:rPr spc="-204" dirty="0"/>
              <a:t> </a:t>
            </a:r>
            <a:r>
              <a:rPr spc="-110" dirty="0"/>
              <a:t>solids)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3978" y="1652651"/>
            <a:ext cx="8210329" cy="30059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 algn="just">
              <a:spcBef>
                <a:spcPts val="100"/>
              </a:spcBef>
              <a:buFontTx/>
              <a:buChar char="•"/>
              <a:tabLst>
                <a:tab pos="240665" algn="l"/>
              </a:tabLst>
            </a:pPr>
            <a:r>
              <a:rPr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Bond order potentials: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lvl="1" algn="just">
              <a:spcBef>
                <a:spcPts val="100"/>
              </a:spcBef>
              <a:tabLst>
                <a:tab pos="240665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To represent the bonding in 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solid, it seems reasonable to assume that the strength of the bonding between nearest-neighbor atoms should decrease with the number of nearest neighbors, Z, as there are only so many electrons that can be distributed in the bonds</a:t>
            </a:r>
          </a:p>
          <a:p>
            <a:pPr marL="240665" indent="-227965" algn="just">
              <a:spcBef>
                <a:spcPts val="100"/>
              </a:spcBef>
              <a:buFontTx/>
              <a:buChar char="•"/>
              <a:tabLst>
                <a:tab pos="240665" algn="l"/>
              </a:tabLs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lvl="3" algn="just">
              <a:spcBef>
                <a:spcPts val="100"/>
              </a:spcBef>
              <a:tabLst>
                <a:tab pos="240665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Abell assumed that</a:t>
            </a:r>
            <a:endParaRPr lang="en-US" sz="2400" kern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47856" y="4247070"/>
            <a:ext cx="1228725" cy="2479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B6663-001D-8908-2FD5-13CBBDB8A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74" y="98354"/>
            <a:ext cx="11390523" cy="67710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Finnis-Sinclair Potentials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C0C33E-9463-8A7C-FEC9-46CF0A9167C8}"/>
              </a:ext>
            </a:extLst>
          </p:cNvPr>
          <p:cNvSpPr txBox="1"/>
          <p:nvPr/>
        </p:nvSpPr>
        <p:spPr>
          <a:xfrm>
            <a:off x="400738" y="1575413"/>
            <a:ext cx="10946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has advanced potential compared to Lennard-Jones. The repulsive and bonding terms are as follows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0868BD-903B-187A-6A97-7C5B27003659}"/>
                  </a:ext>
                </a:extLst>
              </p:cNvPr>
              <p:cNvSpPr txBox="1"/>
              <p:nvPr/>
            </p:nvSpPr>
            <p:spPr>
              <a:xfrm>
                <a:off x="864312" y="2650876"/>
                <a:ext cx="1831399" cy="6706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0868BD-903B-187A-6A97-7C5B27003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12" y="2650876"/>
                <a:ext cx="1831399" cy="670696"/>
              </a:xfrm>
              <a:prstGeom prst="rect">
                <a:avLst/>
              </a:prstGeom>
              <a:blipFill>
                <a:blip r:embed="rId2"/>
                <a:stretch>
                  <a:fillRect l="-18621" t="-144444" b="-2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F14F8F6-D9A6-13F6-DEF8-4677020C461C}"/>
              </a:ext>
            </a:extLst>
          </p:cNvPr>
          <p:cNvSpPr txBox="1"/>
          <p:nvPr/>
        </p:nvSpPr>
        <p:spPr>
          <a:xfrm>
            <a:off x="3437262" y="2801558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E22EF8-9AD1-644C-C29C-CBC4A0D303F6}"/>
                  </a:ext>
                </a:extLst>
              </p:cNvPr>
              <p:cNvSpPr txBox="1"/>
              <p:nvPr/>
            </p:nvSpPr>
            <p:spPr>
              <a:xfrm>
                <a:off x="4598250" y="2018965"/>
                <a:ext cx="3414140" cy="853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𝐼𝐽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⁡(−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𝐼𝐽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𝐼𝐽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E22EF8-9AD1-644C-C29C-CBC4A0D30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250" y="2018965"/>
                <a:ext cx="3414140" cy="853182"/>
              </a:xfrm>
              <a:prstGeom prst="rect">
                <a:avLst/>
              </a:prstGeom>
              <a:blipFill>
                <a:blip r:embed="rId3"/>
                <a:stretch>
                  <a:fillRect l="-741" t="-95652" r="-370" b="-1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232A31-B71E-A8E7-A2A3-98EDA4287004}"/>
                  </a:ext>
                </a:extLst>
              </p:cNvPr>
              <p:cNvSpPr txBox="1"/>
              <p:nvPr/>
            </p:nvSpPr>
            <p:spPr>
              <a:xfrm>
                <a:off x="4598250" y="3228753"/>
                <a:ext cx="2543773" cy="7006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𝐼𝐽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⁡(−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𝐼𝐽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𝐼𝐽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232A31-B71E-A8E7-A2A3-98EDA4287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250" y="3228753"/>
                <a:ext cx="2543773" cy="700641"/>
              </a:xfrm>
              <a:prstGeom prst="rect">
                <a:avLst/>
              </a:prstGeom>
              <a:blipFill>
                <a:blip r:embed="rId4"/>
                <a:stretch>
                  <a:fillRect l="-11386" t="-139286" r="-2475" b="-18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B774A31-0EAD-2017-E793-DB54B1A8D3A7}"/>
              </a:ext>
            </a:extLst>
          </p:cNvPr>
          <p:cNvSpPr txBox="1"/>
          <p:nvPr/>
        </p:nvSpPr>
        <p:spPr>
          <a:xfrm>
            <a:off x="8255450" y="2281950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Bonding term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F754A3-24A5-30CF-2FD7-02ABED419F89}"/>
              </a:ext>
            </a:extLst>
          </p:cNvPr>
          <p:cNvSpPr txBox="1"/>
          <p:nvPr/>
        </p:nvSpPr>
        <p:spPr>
          <a:xfrm>
            <a:off x="8182931" y="3361356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Repulsion term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FC3927-BA51-D5EB-1647-8B41C61D8E3B}"/>
              </a:ext>
            </a:extLst>
          </p:cNvPr>
          <p:cNvSpPr txBox="1"/>
          <p:nvPr/>
        </p:nvSpPr>
        <p:spPr>
          <a:xfrm>
            <a:off x="950874" y="3429000"/>
            <a:ext cx="1806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= atom indices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07B916-03A0-80A9-A9C7-81FA2CA8A66A}"/>
              </a:ext>
            </a:extLst>
          </p:cNvPr>
          <p:cNvSpPr txBox="1"/>
          <p:nvPr/>
        </p:nvSpPr>
        <p:spPr>
          <a:xfrm>
            <a:off x="400738" y="4587725"/>
            <a:ext cx="623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it’s a fixed mono-atomic crystal, the formula reduces 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3518B3-A0C7-91BE-721F-A9CCFE4FDA48}"/>
                  </a:ext>
                </a:extLst>
              </p:cNvPr>
              <p:cNvSpPr txBox="1"/>
              <p:nvPr/>
            </p:nvSpPr>
            <p:spPr>
              <a:xfrm>
                <a:off x="6210718" y="4476603"/>
                <a:ext cx="2613792" cy="6706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</m:ra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3518B3-A0C7-91BE-721F-A9CCFE4FD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718" y="4476603"/>
                <a:ext cx="2613792" cy="670696"/>
              </a:xfrm>
              <a:prstGeom prst="rect">
                <a:avLst/>
              </a:prstGeom>
              <a:blipFill>
                <a:blip r:embed="rId5"/>
                <a:stretch>
                  <a:fillRect l="-12560" t="-144444" b="-19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1D47F39-66D0-AAAB-FD15-9753E7556827}"/>
              </a:ext>
            </a:extLst>
          </p:cNvPr>
          <p:cNvSpPr txBox="1"/>
          <p:nvPr/>
        </p:nvSpPr>
        <p:spPr>
          <a:xfrm>
            <a:off x="8988535" y="4587725"/>
            <a:ext cx="2638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1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nearest neighbor</a:t>
            </a:r>
          </a:p>
        </p:txBody>
      </p:sp>
    </p:spTree>
    <p:extLst>
      <p:ext uri="{BB962C8B-B14F-4D97-AF65-F5344CB8AC3E}">
        <p14:creationId xmlns:p14="http://schemas.microsoft.com/office/powerpoint/2010/main" val="225792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0" dirty="0"/>
              <a:t>Advantages</a:t>
            </a:r>
            <a:r>
              <a:rPr spc="-35" dirty="0"/>
              <a:t> </a:t>
            </a:r>
            <a:r>
              <a:rPr spc="380" dirty="0"/>
              <a:t>&amp;</a:t>
            </a:r>
            <a:r>
              <a:rPr spc="5" dirty="0"/>
              <a:t> </a:t>
            </a:r>
            <a:r>
              <a:rPr spc="-20" dirty="0"/>
              <a:t>Limitations</a:t>
            </a:r>
            <a:r>
              <a:rPr spc="-15" dirty="0"/>
              <a:t> </a:t>
            </a:r>
            <a:r>
              <a:rPr spc="85" dirty="0"/>
              <a:t>(MBP)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306990"/>
            <a:ext cx="11853266" cy="4062009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78765" marR="0" lvl="0" indent="-227965" defTabSz="914400" eaLnBrk="1" fontAlgn="auto" latinLnBrk="0" hangingPunct="1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78765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</a:p>
          <a:p>
            <a:pPr marL="735330" marR="0" lvl="1" indent="-227329" defTabSz="91440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73533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Significantly superior to pairwise potentials in terms of accuracy and transferability</a:t>
            </a:r>
          </a:p>
          <a:p>
            <a:pPr marL="735330" lvl="1" indent="-227329">
              <a:lnSpc>
                <a:spcPts val="2735"/>
              </a:lnSpc>
              <a:spcBef>
                <a:spcPts val="215"/>
              </a:spcBef>
              <a:buFontTx/>
              <a:buChar char="•"/>
              <a:tabLst>
                <a:tab pos="73533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Computationally efficient (time scales as N</a:t>
            </a:r>
            <a:r>
              <a:rPr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,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and one can go up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to a billion atom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366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and a few 100s of nanoseconds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765" marR="0" lvl="0" indent="-227965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78765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  <a:p>
            <a:pPr marL="735330" marR="0" lvl="1" indent="-227329" defTabSz="91440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73533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Transferability is an issue</a:t>
            </a:r>
          </a:p>
          <a:p>
            <a:pPr marL="735330" marR="1265555" lvl="1" indent="-227329" defTabSz="914400" eaLnBrk="1" fontAlgn="auto" latinLnBrk="0" hangingPunct="1">
              <a:lnSpc>
                <a:spcPts val="2590"/>
              </a:lnSpc>
              <a:spcBef>
                <a:spcPts val="54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736600" algn="l"/>
              </a:tabLst>
              <a:defRPr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Potential development for new systems is an issue. Particularly for multi- 	component system</a:t>
            </a:r>
          </a:p>
          <a:p>
            <a:pPr marL="735330" lvl="1" indent="-227329">
              <a:spcBef>
                <a:spcPts val="170"/>
              </a:spcBef>
              <a:buFontTx/>
              <a:buChar char="•"/>
              <a:tabLst>
                <a:tab pos="73533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Qualitative trends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more believable than quantity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8869</TotalTime>
  <Words>1303</Words>
  <Application>Microsoft Macintosh PowerPoint</Application>
  <PresentationFormat>Widescreen</PresentationFormat>
  <Paragraphs>143</Paragraphs>
  <Slides>22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STIX Two Math</vt:lpstr>
      <vt:lpstr>Times New Roman</vt:lpstr>
      <vt:lpstr>Office Theme</vt:lpstr>
      <vt:lpstr>1_Office Theme</vt:lpstr>
      <vt:lpstr>2_Office Theme</vt:lpstr>
      <vt:lpstr>MLL213: Materials Modelling</vt:lpstr>
      <vt:lpstr>Materialism Podcast</vt:lpstr>
      <vt:lpstr>Molecular Dynamics</vt:lpstr>
      <vt:lpstr>MD Implementation</vt:lpstr>
      <vt:lpstr>Force Calculation</vt:lpstr>
      <vt:lpstr>Interatomic Potentials</vt:lpstr>
      <vt:lpstr>Interactions between atoms</vt:lpstr>
      <vt:lpstr>Central-Force potentials</vt:lpstr>
      <vt:lpstr>Lennard-Jones (LJ) pair potential</vt:lpstr>
      <vt:lpstr>Mie Potential</vt:lpstr>
      <vt:lpstr>Other potentials</vt:lpstr>
      <vt:lpstr>Other potentials</vt:lpstr>
      <vt:lpstr>Summary of Central force potentials</vt:lpstr>
      <vt:lpstr>Advantages &amp; disadvantages of CFP</vt:lpstr>
      <vt:lpstr>Many-body potentials</vt:lpstr>
      <vt:lpstr>Embedded Atom Method (EAM) potential</vt:lpstr>
      <vt:lpstr>Embedded Atom Model (EAM) potential</vt:lpstr>
      <vt:lpstr>EAM potentials</vt:lpstr>
      <vt:lpstr>Modified-EAM potentials</vt:lpstr>
      <vt:lpstr>Bond order potentials (Covalent solids)</vt:lpstr>
      <vt:lpstr>Finnis-Sinclair Potentials</vt:lpstr>
      <vt:lpstr>Advantages &amp; Limitations (MBP)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MLL730: Diffusion and Kinetics</dc:title>
  <dc:creator>Gunda, Naga Sri Harsha</dc:creator>
  <cp:lastModifiedBy>Gunda Naga Sri Harsha</cp:lastModifiedBy>
  <cp:revision>79</cp:revision>
  <dcterms:created xsi:type="dcterms:W3CDTF">2024-01-03T03:25:03Z</dcterms:created>
  <dcterms:modified xsi:type="dcterms:W3CDTF">2025-08-07T04:05:53Z</dcterms:modified>
</cp:coreProperties>
</file>