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1" r:id="rId4"/>
    <p:sldId id="264" r:id="rId5"/>
    <p:sldId id="271" r:id="rId6"/>
    <p:sldId id="260" r:id="rId7"/>
    <p:sldId id="267" r:id="rId8"/>
    <p:sldId id="268" r:id="rId9"/>
    <p:sldId id="272" r:id="rId10"/>
    <p:sldId id="273" r:id="rId11"/>
    <p:sldId id="262" r:id="rId12"/>
    <p:sldId id="270" r:id="rId13"/>
    <p:sldId id="269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577"/>
  </p:normalViewPr>
  <p:slideViewPr>
    <p:cSldViewPr snapToGrid="0">
      <p:cViewPr varScale="1">
        <p:scale>
          <a:sx n="116" d="100"/>
          <a:sy n="116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DCE3B-CF40-6A4D-A12B-1DB10262A5C2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4E791-A126-EE47-A917-39D2B843E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1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4E791-A126-EE47-A917-39D2B843E8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47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ABC5-C4BC-89E3-C52C-67CCEB08C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8A5BB-2E3A-B163-E38C-035EA6235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21A91-CF36-9350-7583-9A6D0938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7E3AA-EBF4-4899-A6DB-D5EC599E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80B4-6CCE-E719-AF5F-F29A6FFF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89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E428-40A6-4613-0DB6-831463A7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5A06-6223-23E4-2087-D3B457D2D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B03B3-BEFA-05B6-07A7-8B3E5C43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31E4E-6724-6594-98E6-A340B997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A1766-8EA9-5810-2CBC-E5F90FD7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4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4AEA-121D-C50A-8119-5BDBCC48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11523-83BB-223A-AB00-4937485B2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817E-B304-C5A2-A151-3FFE68E4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0D4F-3CD5-9485-1004-BD3A909F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205D3-BDDA-D60B-2728-D71D66B4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5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DA0F-8AF4-D356-C08F-50AD13C8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7212A-9F27-780E-F602-5A3AFD2EF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14263-184D-8932-7EDC-62CBF9842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66B7A-FE7A-77FD-BD6B-3A914C9F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44859-39B9-B505-961B-EF7BE447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2C700-D3D2-CB09-CAF9-4686E146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6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04E7-8DFB-85AF-BF84-07F22142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29489-97FB-35A9-3AA9-273C342B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C9C07-4F79-F169-FEBB-04FD3FBC0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21568-7801-F463-D936-8704C9049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F25A1-968C-6B44-044B-E9FE06545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50398-91F6-4C6D-E69A-443CF75F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5FDCF-9692-1EDE-964C-299E7464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52F0E-4133-3187-B884-EAF7758C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0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99B3-793B-6014-B39D-90F198B2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BADAB-FA37-221B-C596-02166BF0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CFC5A-D285-1771-7F95-A42AC35A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90BC7-1D12-CA6E-400A-7E12BB12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7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60357-4B05-F871-F937-62688CC6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50FB-1448-B54D-16BA-63F7D580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3D1A-6546-C4D3-17AF-605F5DC8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2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DF9A-53B2-E947-C19D-72D7AA2D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B8D9-0FEE-C912-9113-006CAD29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11291-CD52-5962-39B4-24AF2A452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52481-7BCD-4C75-8432-8A98BA9D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CF651-AAB2-BA2E-B94A-EC1AEE98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1898D-6C73-10B2-CFC0-9F20D35E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4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B1F7-B4F6-0AA5-2B16-48E57921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3B7A7-7F7D-7082-8F09-1DC3F4976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BAB7D-13E1-BCC5-F9B9-F75D2232F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5B68F-1357-839F-188A-73367B6E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BF6DB-048A-847C-BA6C-D6CEDB67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CA52D-127D-9851-CA38-2B018798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C587-7207-1DAB-3FEE-D272DA43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B3F22-FF6B-F8B8-12EE-870411E03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37E6-2F48-1291-708F-5D9E212D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5B0AF-8170-0482-3E97-48201378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2D4B-0E57-7EB7-0EE5-E4BD93FF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2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6D7E4D-DE0B-6FF3-A823-55E8A3029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8B8C6-BCFF-8C11-3F51-03C8AF665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188E-862B-7154-EDE7-7F8A4CC8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9776B-F6D2-48DF-D116-598F0F09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BD594-B033-A290-571E-0E5F144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4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5089D-7471-7759-FA60-15215A69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E784E-34BE-60F9-D707-B6DA2861E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A149B-8FB2-6CA0-52D6-C35AFEF8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DF1B7-F736-994E-8871-601BB73E410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B0A20-7840-3F95-0140-DB83CEC54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559C5-DED9-D81A-C8AA-432134E9C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09BCE-8E7C-804A-BBF9-8B7F52FB5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7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7wnove7K-ZQ?si=fMOTc2L9LRMQ5n8G" TargetMode="External"/><Relationship Id="rId2" Type="http://schemas.openxmlformats.org/officeDocument/2006/relationships/hyperlink" Target="https://www.w3schools.com/python/default.asp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tackoverflow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26D0-6D32-B34A-F5BE-ADA09936A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614" y="408531"/>
            <a:ext cx="10308771" cy="1093334"/>
          </a:xfrm>
        </p:spPr>
        <p:txBody>
          <a:bodyPr/>
          <a:lstStyle/>
          <a:p>
            <a:r>
              <a:rPr lang="en-US" dirty="0"/>
              <a:t>MLL213: Materials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8CD02-2D1F-5C07-5985-61BEB101C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6505"/>
            <a:ext cx="9144000" cy="1655762"/>
          </a:xfrm>
        </p:spPr>
        <p:txBody>
          <a:bodyPr/>
          <a:lstStyle/>
          <a:p>
            <a:r>
              <a:rPr lang="en-US" sz="2800" dirty="0"/>
              <a:t>Prof N S </a:t>
            </a:r>
            <a:r>
              <a:rPr lang="en-US" sz="2800" u="sng" dirty="0">
                <a:solidFill>
                  <a:srgbClr val="FF0000"/>
                </a:solidFill>
              </a:rPr>
              <a:t>Harsha</a:t>
            </a:r>
            <a:r>
              <a:rPr lang="en-US" sz="2800" dirty="0"/>
              <a:t> </a:t>
            </a:r>
            <a:r>
              <a:rPr lang="en-US" sz="2800" dirty="0" err="1"/>
              <a:t>Gunda</a:t>
            </a:r>
            <a:endParaRPr lang="en-US" sz="2800" dirty="0"/>
          </a:p>
          <a:p>
            <a:r>
              <a:rPr lang="en-US" dirty="0"/>
              <a:t>Department of Materials Science and Engineering</a:t>
            </a:r>
          </a:p>
          <a:p>
            <a:r>
              <a:rPr lang="en-US" dirty="0"/>
              <a:t>IIT Delhi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95215-3FEA-42CD-C2EE-9C67A6478362}"/>
              </a:ext>
            </a:extLst>
          </p:cNvPr>
          <p:cNvSpPr txBox="1"/>
          <p:nvPr/>
        </p:nvSpPr>
        <p:spPr>
          <a:xfrm>
            <a:off x="6286564" y="512720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Office: 306H, Academic Complex West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8307E-C2A9-6CB0-ED6E-7CA576B06A0E}"/>
              </a:ext>
            </a:extLst>
          </p:cNvPr>
          <p:cNvSpPr txBox="1"/>
          <p:nvPr/>
        </p:nvSpPr>
        <p:spPr>
          <a:xfrm>
            <a:off x="6286564" y="5649250"/>
            <a:ext cx="54537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Email: </a:t>
            </a:r>
            <a:r>
              <a:rPr lang="en-US" sz="2800" dirty="0" err="1"/>
              <a:t>gnsharsha@iitd.ac.in</a:t>
            </a:r>
            <a:endParaRPr lang="en-US" sz="2800" dirty="0"/>
          </a:p>
          <a:p>
            <a:endParaRPr lang="en-US" dirty="0"/>
          </a:p>
        </p:txBody>
      </p:sp>
      <p:pic>
        <p:nvPicPr>
          <p:cNvPr id="1028" name="Picture 4" descr="Materials across the length scales.">
            <a:extLst>
              <a:ext uri="{FF2B5EF4-FFF2-40B4-BE49-F238E27FC236}">
                <a16:creationId xmlns:a16="http://schemas.microsoft.com/office/drawing/2014/main" id="{3F18DE27-CFA5-84BA-2A89-7C7E04145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04" y="2930488"/>
            <a:ext cx="4901066" cy="367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24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A58B-C737-1F9B-B69C-AD58FC2D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296841"/>
            <a:ext cx="10515600" cy="1325563"/>
          </a:xfrm>
        </p:spPr>
        <p:txBody>
          <a:bodyPr/>
          <a:lstStyle/>
          <a:p>
            <a:r>
              <a:rPr lang="en-US" dirty="0"/>
              <a:t>Why should we care for materials modelling?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62D67-86D5-7264-7CA2-C8EB0B8E90F3}"/>
              </a:ext>
            </a:extLst>
          </p:cNvPr>
          <p:cNvSpPr txBox="1"/>
          <p:nvPr/>
        </p:nvSpPr>
        <p:spPr>
          <a:xfrm>
            <a:off x="439302" y="1841801"/>
            <a:ext cx="1096505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Reduction of experiments and material development timeframe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Theoretical models have often beat experiments in discovery.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the only way to understand basic fundamental physics.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Develop advanced models to accurately predict many material properties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Its cool </a:t>
            </a:r>
            <a:r>
              <a:rPr lang="en-US" sz="2400" dirty="0">
                <a:sym typeface="Wingdings" pitchFamily="2" charset="2"/>
              </a:rPr>
              <a:t>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4041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B4C8-7C14-D60B-61BB-0767A476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you get out of this course?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AA8A-0A18-1BA8-43B1-D636FCC98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various methods and techniques used to model material properties</a:t>
            </a:r>
          </a:p>
          <a:p>
            <a:endParaRPr lang="en-US" dirty="0"/>
          </a:p>
          <a:p>
            <a:r>
              <a:rPr lang="en-US" dirty="0"/>
              <a:t>Learn to do scientific computing using Python.</a:t>
            </a:r>
          </a:p>
          <a:p>
            <a:endParaRPr lang="en-US" dirty="0"/>
          </a:p>
          <a:p>
            <a:r>
              <a:rPr lang="en-US" dirty="0"/>
              <a:t>Use various proprietary software for simulating materials*</a:t>
            </a:r>
          </a:p>
          <a:p>
            <a:endParaRPr lang="en-US" dirty="0"/>
          </a:p>
          <a:p>
            <a:r>
              <a:rPr lang="en-US" dirty="0"/>
              <a:t>Have fun of course!!!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64160-DFCA-6ACD-8839-B395CB501AE5}"/>
              </a:ext>
            </a:extLst>
          </p:cNvPr>
          <p:cNvSpPr txBox="1"/>
          <p:nvPr/>
        </p:nvSpPr>
        <p:spPr>
          <a:xfrm>
            <a:off x="838200" y="6176963"/>
            <a:ext cx="2020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* As time permits</a:t>
            </a:r>
          </a:p>
        </p:txBody>
      </p:sp>
    </p:spTree>
    <p:extLst>
      <p:ext uri="{BB962C8B-B14F-4D97-AF65-F5344CB8AC3E}">
        <p14:creationId xmlns:p14="http://schemas.microsoft.com/office/powerpoint/2010/main" val="3567133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436BA4-2E59-5502-263A-0190F09A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14" y="48520"/>
            <a:ext cx="10515600" cy="1325563"/>
          </a:xfrm>
        </p:spPr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5004E4-7D9E-EE0B-4C0F-4D3285BDC797}"/>
              </a:ext>
            </a:extLst>
          </p:cNvPr>
          <p:cNvSpPr txBox="1">
            <a:spLocks/>
          </p:cNvSpPr>
          <p:nvPr/>
        </p:nvSpPr>
        <p:spPr>
          <a:xfrm>
            <a:off x="827314" y="1282296"/>
            <a:ext cx="10515600" cy="489466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en-US" dirty="0"/>
              <a:t>Basics of Python Coding</a:t>
            </a:r>
          </a:p>
          <a:p>
            <a:pPr>
              <a:lnSpc>
                <a:spcPct val="160000"/>
              </a:lnSpc>
            </a:pPr>
            <a:r>
              <a:rPr lang="en-US" dirty="0"/>
              <a:t>Scientific computing using Python</a:t>
            </a:r>
          </a:p>
          <a:p>
            <a:pPr>
              <a:lnSpc>
                <a:spcPct val="160000"/>
              </a:lnSpc>
            </a:pPr>
            <a:r>
              <a:rPr lang="en-US" dirty="0"/>
              <a:t>Energy Minimization (Simulated Annealing)</a:t>
            </a:r>
          </a:p>
          <a:p>
            <a:pPr>
              <a:lnSpc>
                <a:spcPct val="160000"/>
              </a:lnSpc>
            </a:pPr>
            <a:r>
              <a:rPr lang="en-US" dirty="0"/>
              <a:t>Phase Diagram Construction</a:t>
            </a:r>
          </a:p>
          <a:p>
            <a:pPr>
              <a:lnSpc>
                <a:spcPct val="160000"/>
              </a:lnSpc>
            </a:pPr>
            <a:r>
              <a:rPr lang="en-US" dirty="0"/>
              <a:t>Finite Difference Modeling</a:t>
            </a:r>
          </a:p>
          <a:p>
            <a:pPr>
              <a:lnSpc>
                <a:spcPct val="160000"/>
              </a:lnSpc>
            </a:pPr>
            <a:r>
              <a:rPr lang="en-US" dirty="0"/>
              <a:t>AI/ML property prediction</a:t>
            </a:r>
          </a:p>
          <a:p>
            <a:pPr>
              <a:lnSpc>
                <a:spcPct val="160000"/>
              </a:lnSpc>
            </a:pPr>
            <a:r>
              <a:rPr lang="en-US" dirty="0"/>
              <a:t>Atomistic Calculations* (MD &amp; DFT)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310D8-D1C2-DE88-5CAA-8D13274BFE33}"/>
              </a:ext>
            </a:extLst>
          </p:cNvPr>
          <p:cNvSpPr txBox="1"/>
          <p:nvPr/>
        </p:nvSpPr>
        <p:spPr>
          <a:xfrm>
            <a:off x="827314" y="6332251"/>
            <a:ext cx="2020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* As time permits</a:t>
            </a:r>
          </a:p>
        </p:txBody>
      </p:sp>
    </p:spTree>
    <p:extLst>
      <p:ext uri="{BB962C8B-B14F-4D97-AF65-F5344CB8AC3E}">
        <p14:creationId xmlns:p14="http://schemas.microsoft.com/office/powerpoint/2010/main" val="223298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A0CD-91A6-66E6-1AEF-5B30B504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42" y="133770"/>
            <a:ext cx="10515600" cy="1325563"/>
          </a:xfrm>
        </p:spPr>
        <p:txBody>
          <a:bodyPr/>
          <a:lstStyle/>
          <a:p>
            <a:r>
              <a:rPr lang="en-US" dirty="0"/>
              <a:t>Class schedule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B308C-2ED6-674A-0F54-EDD82DEFD5D5}"/>
              </a:ext>
            </a:extLst>
          </p:cNvPr>
          <p:cNvSpPr txBox="1"/>
          <p:nvPr/>
        </p:nvSpPr>
        <p:spPr>
          <a:xfrm>
            <a:off x="462709" y="1459333"/>
            <a:ext cx="6447150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MLL213  has 1 – 0 – 4 type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 </a:t>
            </a:r>
            <a:r>
              <a:rPr lang="en-US" sz="2000" dirty="0" err="1"/>
              <a:t>hr</a:t>
            </a:r>
            <a:r>
              <a:rPr lang="en-US" sz="2000" dirty="0"/>
              <a:t> of lectures and 4 </a:t>
            </a:r>
            <a:r>
              <a:rPr lang="en-US" sz="2000" dirty="0" err="1"/>
              <a:t>hrs</a:t>
            </a:r>
            <a:r>
              <a:rPr lang="en-US" sz="2000" dirty="0"/>
              <a:t> of interactive sessions per week.</a:t>
            </a:r>
          </a:p>
          <a:p>
            <a:endParaRPr lang="en-US" sz="2000" dirty="0"/>
          </a:p>
          <a:p>
            <a:r>
              <a:rPr lang="en-US" sz="2800" dirty="0"/>
              <a:t>Lecture: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 slot -  Every Thursday at 11 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Covers the theory aspects of the modeling.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Lectures at LHC 604</a:t>
            </a:r>
          </a:p>
          <a:p>
            <a:endParaRPr lang="en-US" sz="2000" dirty="0"/>
          </a:p>
          <a:p>
            <a:r>
              <a:rPr lang="en-US" sz="2800" dirty="0"/>
              <a:t>Practical sessions: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Tuesday and Friday from 2 to 4 PM.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Hands-on session of coding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 Bharathi building room 305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026" name="Picture 2" descr="Indian Institute Of Technology Delhi (IIT Delhi)">
            <a:extLst>
              <a:ext uri="{FF2B5EF4-FFF2-40B4-BE49-F238E27FC236}">
                <a16:creationId xmlns:a16="http://schemas.microsoft.com/office/drawing/2014/main" id="{2A3DE384-56EE-EEEB-F519-9CA3AC5E2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80" b="16179"/>
          <a:stretch>
            <a:fillRect/>
          </a:stretch>
        </p:blipFill>
        <p:spPr bwMode="auto">
          <a:xfrm>
            <a:off x="7130197" y="352351"/>
            <a:ext cx="4503616" cy="281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harti School Of Telecommunications Technology &amp; Management in Hauz Khas, Delhi - Best Institutes near me in Delhi - Justdial">
            <a:extLst>
              <a:ext uri="{FF2B5EF4-FFF2-40B4-BE49-F238E27FC236}">
                <a16:creationId xmlns:a16="http://schemas.microsoft.com/office/drawing/2014/main" id="{98E02CDC-F044-E253-705A-2FEC18363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516" y="3689029"/>
            <a:ext cx="4074978" cy="3063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7FC50C-ADBA-A050-F04F-93D6573412A4}"/>
              </a:ext>
            </a:extLst>
          </p:cNvPr>
          <p:cNvCxnSpPr/>
          <p:nvPr/>
        </p:nvCxnSpPr>
        <p:spPr>
          <a:xfrm flipV="1">
            <a:off x="5431316" y="2842352"/>
            <a:ext cx="1399142" cy="5866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2B9326-E03F-AD23-B4A7-5C4082D57619}"/>
              </a:ext>
            </a:extLst>
          </p:cNvPr>
          <p:cNvCxnSpPr>
            <a:cxnSpLocks/>
          </p:cNvCxnSpPr>
          <p:nvPr/>
        </p:nvCxnSpPr>
        <p:spPr>
          <a:xfrm>
            <a:off x="4801518" y="5256407"/>
            <a:ext cx="2328679" cy="6486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41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8DA0-9250-D00C-0689-CD0BC89EE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9" y="-72674"/>
            <a:ext cx="10515600" cy="1325563"/>
          </a:xfrm>
        </p:spPr>
        <p:txBody>
          <a:bodyPr/>
          <a:lstStyle/>
          <a:p>
            <a:r>
              <a:rPr lang="en-US" dirty="0"/>
              <a:t>Course Policy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3CDB5-3A88-0718-1844-4E816EE49854}"/>
              </a:ext>
            </a:extLst>
          </p:cNvPr>
          <p:cNvSpPr txBox="1"/>
          <p:nvPr/>
        </p:nvSpPr>
        <p:spPr>
          <a:xfrm>
            <a:off x="562775" y="930258"/>
            <a:ext cx="1076597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600" dirty="0">
                <a:solidFill>
                  <a:srgbClr val="FF0000"/>
                </a:solidFill>
              </a:rPr>
              <a:t>Grading: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Term project                   15 %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Labs &amp; Assignments      20 %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Mid-term exam              30 %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Final Exam                       35%</a:t>
            </a:r>
          </a:p>
          <a:p>
            <a:endParaRPr lang="en-US" sz="3200" dirty="0"/>
          </a:p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FF0000"/>
                </a:solidFill>
              </a:rPr>
              <a:t>Attendance: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One grade down if attendance is less than 75 %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No Re-major if attendance is less than 50 %</a:t>
            </a:r>
          </a:p>
        </p:txBody>
      </p:sp>
    </p:spTree>
    <p:extLst>
      <p:ext uri="{BB962C8B-B14F-4D97-AF65-F5344CB8AC3E}">
        <p14:creationId xmlns:p14="http://schemas.microsoft.com/office/powerpoint/2010/main" val="269751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5704F3-31B6-C4BA-D75D-CD2EE6AF1946}"/>
              </a:ext>
            </a:extLst>
          </p:cNvPr>
          <p:cNvSpPr txBox="1">
            <a:spLocks/>
          </p:cNvSpPr>
          <p:nvPr/>
        </p:nvSpPr>
        <p:spPr>
          <a:xfrm>
            <a:off x="761082" y="308470"/>
            <a:ext cx="10515600" cy="6290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Labs &amp; Assignments</a:t>
            </a:r>
            <a:r>
              <a:rPr lang="en-US" dirty="0"/>
              <a:t>: (20% of the total)</a:t>
            </a:r>
          </a:p>
          <a:p>
            <a:pPr lvl="1"/>
            <a:r>
              <a:rPr lang="en-US" dirty="0"/>
              <a:t>Six lab assignments in total. Due at the end of the practical session.</a:t>
            </a:r>
          </a:p>
          <a:p>
            <a:pPr lvl="1"/>
            <a:r>
              <a:rPr lang="en-US" dirty="0"/>
              <a:t>Three/Four assignments with one-week due dates (I will not give solutions)</a:t>
            </a:r>
          </a:p>
          <a:p>
            <a:pPr lvl="1"/>
            <a:r>
              <a:rPr lang="en-US" dirty="0"/>
              <a:t>Need to submit codes that execute without errors.</a:t>
            </a:r>
          </a:p>
          <a:p>
            <a:pPr lvl="1"/>
            <a:r>
              <a:rPr lang="en-US" dirty="0"/>
              <a:t>Very useful for exams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Exams</a:t>
            </a:r>
            <a:r>
              <a:rPr lang="en-US" dirty="0"/>
              <a:t>: (30% + 35% for mid/end </a:t>
            </a:r>
            <a:r>
              <a:rPr lang="en-US" dirty="0" err="1"/>
              <a:t>sem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Coding challenges inspired by interactive sessions</a:t>
            </a:r>
          </a:p>
          <a:p>
            <a:pPr lvl="1"/>
            <a:r>
              <a:rPr lang="en-US" dirty="0"/>
              <a:t>Open book (even ChatGPT most probably) </a:t>
            </a:r>
          </a:p>
          <a:p>
            <a:pPr lvl="1"/>
            <a:r>
              <a:rPr lang="en-US" dirty="0"/>
              <a:t>Access to assignments and internet for debugging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32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6B3A-EB9F-159D-D90C-D762F7E5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01"/>
            <a:ext cx="10515600" cy="1023001"/>
          </a:xfrm>
        </p:spPr>
        <p:txBody>
          <a:bodyPr/>
          <a:lstStyle/>
          <a:p>
            <a:r>
              <a:rPr lang="en-US" dirty="0"/>
              <a:t>Term Project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642919-A872-706E-7DE2-EE45D7BB619D}"/>
              </a:ext>
            </a:extLst>
          </p:cNvPr>
          <p:cNvSpPr txBox="1">
            <a:spLocks/>
          </p:cNvSpPr>
          <p:nvPr/>
        </p:nvSpPr>
        <p:spPr>
          <a:xfrm>
            <a:off x="838200" y="1123720"/>
            <a:ext cx="10515600" cy="56555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Includes Literature review, Presentation &amp; 2/3-page report.</a:t>
            </a:r>
          </a:p>
          <a:p>
            <a:pPr>
              <a:spcAft>
                <a:spcPts val="600"/>
              </a:spcAft>
            </a:pPr>
            <a:r>
              <a:rPr lang="en-US" dirty="0"/>
              <a:t>Random distribution of class into groups of 4 (10 groups).</a:t>
            </a:r>
          </a:p>
          <a:p>
            <a:r>
              <a:rPr lang="en-US" dirty="0"/>
              <a:t>Grading (15 %)</a:t>
            </a:r>
          </a:p>
          <a:p>
            <a:pPr lvl="1"/>
            <a:r>
              <a:rPr lang="en-US" dirty="0"/>
              <a:t>Presentation (5 %)</a:t>
            </a:r>
          </a:p>
          <a:p>
            <a:pPr lvl="1"/>
            <a:r>
              <a:rPr lang="en-US" dirty="0"/>
              <a:t>Paper (5 %)</a:t>
            </a:r>
          </a:p>
          <a:p>
            <a:pPr lvl="1"/>
            <a:r>
              <a:rPr lang="en-US" dirty="0"/>
              <a:t>Effort* (5 %)</a:t>
            </a:r>
          </a:p>
          <a:p>
            <a:pPr lvl="1"/>
            <a:endParaRPr lang="en-US" dirty="0"/>
          </a:p>
          <a:p>
            <a:r>
              <a:rPr lang="en-US" dirty="0"/>
              <a:t>Tentative Dates: I will provide details soon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Bonus points if you implement the whole/part of the work selected.</a:t>
            </a:r>
          </a:p>
          <a:p>
            <a:endParaRPr lang="en-US" dirty="0"/>
          </a:p>
          <a:p>
            <a:r>
              <a:rPr lang="en-US" dirty="0"/>
              <a:t>Penalty if you didn’t contribute equally to the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38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DBFC-235B-9724-F2A6-C253CFB8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24" y="221906"/>
            <a:ext cx="4020239" cy="626393"/>
          </a:xfrm>
        </p:spPr>
        <p:txBody>
          <a:bodyPr>
            <a:normAutofit/>
          </a:bodyPr>
          <a:lstStyle/>
          <a:p>
            <a:r>
              <a:rPr lang="en-US" sz="2800" b="1" dirty="0"/>
              <a:t>Previous Class Reviews!!!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53EA1-D9CF-071C-E205-003F4D898210}"/>
              </a:ext>
            </a:extLst>
          </p:cNvPr>
          <p:cNvSpPr txBox="1"/>
          <p:nvPr/>
        </p:nvSpPr>
        <p:spPr>
          <a:xfrm>
            <a:off x="4696258" y="991518"/>
            <a:ext cx="1417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The Good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BC710-E34A-66B1-DD64-15F4925B6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25"/>
          <a:stretch>
            <a:fillRect/>
          </a:stretch>
        </p:blipFill>
        <p:spPr>
          <a:xfrm>
            <a:off x="397525" y="1841341"/>
            <a:ext cx="5661820" cy="14221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4130C1-E4BC-7FF2-BF08-FD772A33B5CA}"/>
              </a:ext>
            </a:extLst>
          </p:cNvPr>
          <p:cNvSpPr txBox="1"/>
          <p:nvPr/>
        </p:nvSpPr>
        <p:spPr>
          <a:xfrm>
            <a:off x="4562219" y="3664917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The Bad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15BF1-11C0-1058-D0B9-AADBF5A563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66"/>
          <a:stretch>
            <a:fillRect/>
          </a:stretch>
        </p:blipFill>
        <p:spPr>
          <a:xfrm>
            <a:off x="6961105" y="1304759"/>
            <a:ext cx="3743717" cy="1078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FC76F2-4249-E256-C40D-B98EC0EB7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634" y="2618066"/>
            <a:ext cx="5438660" cy="911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E32488-B4B5-1841-47AC-1EF6639DB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44" y="4361302"/>
            <a:ext cx="4259178" cy="3318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BAB9ED-2DA0-9808-91CF-F2392C803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887" y="4927906"/>
            <a:ext cx="1581001" cy="2544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DE32F9-2C00-0A96-9E03-EDA68DCA08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9345" y="4239934"/>
            <a:ext cx="4548027" cy="331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03D57E-1368-DD9E-33D5-1E5FCB6570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2219" y="4827903"/>
            <a:ext cx="6233576" cy="354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B40D59-B225-ECA3-AB3E-5D5F8DCEC1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8746" y="5417040"/>
            <a:ext cx="7772400" cy="4037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194B57-DFE7-EF1A-E178-BE72DA0D2A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858" y="6159214"/>
            <a:ext cx="10902115" cy="47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84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66AEDD-A5F0-CE11-0B23-28128E90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24" y="221906"/>
            <a:ext cx="4020239" cy="626393"/>
          </a:xfrm>
        </p:spPr>
        <p:txBody>
          <a:bodyPr>
            <a:normAutofit/>
          </a:bodyPr>
          <a:lstStyle/>
          <a:p>
            <a:r>
              <a:rPr lang="en-US" sz="2800" b="1" dirty="0"/>
              <a:t>Previous Class Reviews!!!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A6FAA-79E0-AA89-6934-2688BCA0882C}"/>
              </a:ext>
            </a:extLst>
          </p:cNvPr>
          <p:cNvSpPr txBox="1"/>
          <p:nvPr/>
        </p:nvSpPr>
        <p:spPr>
          <a:xfrm>
            <a:off x="4696258" y="991518"/>
            <a:ext cx="1293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The Ugly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69A1F-90CF-6893-94BB-82257E347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1" y="1685886"/>
            <a:ext cx="8763471" cy="308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FBF604-AD76-21AA-BC36-DD5735A9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51" t="1001"/>
          <a:stretch>
            <a:fillRect/>
          </a:stretch>
        </p:blipFill>
        <p:spPr>
          <a:xfrm>
            <a:off x="6096000" y="2535712"/>
            <a:ext cx="5099817" cy="591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97116-7C1E-6D56-9107-9420DDBA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30"/>
          <a:stretch>
            <a:fillRect/>
          </a:stretch>
        </p:blipFill>
        <p:spPr>
          <a:xfrm>
            <a:off x="683046" y="3373298"/>
            <a:ext cx="10345998" cy="591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83A2A9-3B70-BCB0-161C-7261A45D9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03" y="4901789"/>
            <a:ext cx="11726538" cy="54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35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C253-A3FC-EA5F-23AF-4577879A5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books and links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26498-ACB2-10FE-5049-6980E43D22C8}"/>
              </a:ext>
            </a:extLst>
          </p:cNvPr>
          <p:cNvSpPr txBox="1"/>
          <p:nvPr/>
        </p:nvSpPr>
        <p:spPr>
          <a:xfrm>
            <a:off x="1208314" y="1690688"/>
            <a:ext cx="90895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Symbol" pitchFamily="2" charset="2"/>
              <a:buChar char=""/>
            </a:pPr>
            <a:r>
              <a:rPr lang="en-US" b="1" dirty="0"/>
              <a:t>Introduction to Computational Materials Science by Richard </a:t>
            </a:r>
            <a:r>
              <a:rPr lang="en-US" b="1" dirty="0" err="1"/>
              <a:t>Lesar</a:t>
            </a:r>
            <a:r>
              <a:rPr lang="en-US" dirty="0"/>
              <a:t>, Cambridge University Press, 2013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n-US" dirty="0"/>
              <a:t>Computational materials science: an introduction by June Gunn Lee, Second edition, Boca Raton: CRC Press, Taylor &amp; Francis, 2017.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n-US" dirty="0"/>
              <a:t>Computational materials engineering: an introduction to microstructure evolution by </a:t>
            </a:r>
            <a:r>
              <a:rPr lang="en-US" dirty="0" err="1"/>
              <a:t>Koenraad</a:t>
            </a:r>
            <a:r>
              <a:rPr lang="en-US" dirty="0"/>
              <a:t> G. F. Janssens  et al., Elsevier Academic Press, Oxford, 2007</a:t>
            </a:r>
          </a:p>
          <a:p>
            <a:pPr marL="342900" indent="-342900">
              <a:buFont typeface="Symbol" pitchFamily="2" charset="2"/>
              <a:buChar char=""/>
            </a:pPr>
            <a:r>
              <a:rPr lang="en-US" dirty="0"/>
              <a:t>Modeling and simulation in Python by Jason M. Kinser, First edition, Boca Raton, FL, CRC Press, 2022.</a:t>
            </a:r>
          </a:p>
          <a:p>
            <a:pPr marL="342900" indent="-342900">
              <a:buFont typeface="Symbol" pitchFamily="2" charset="2"/>
              <a:buChar char=""/>
            </a:pPr>
            <a:endParaRPr lang="en-US" dirty="0"/>
          </a:p>
          <a:p>
            <a:endParaRPr lang="en-US" dirty="0"/>
          </a:p>
          <a:p>
            <a:pPr marL="342900" indent="-342900">
              <a:buFont typeface="Symbol" pitchFamily="2" charset="2"/>
              <a:buChar char=""/>
            </a:pPr>
            <a:endParaRPr lang="en-US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C3452-027C-72D8-990A-BDCACCC18ADE}"/>
              </a:ext>
            </a:extLst>
          </p:cNvPr>
          <p:cNvSpPr txBox="1"/>
          <p:nvPr/>
        </p:nvSpPr>
        <p:spPr>
          <a:xfrm>
            <a:off x="1208314" y="4254755"/>
            <a:ext cx="9590315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Learning Resource: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https://www.w3schools.com/python/default.asp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YouTube videos: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https://youtu.be/7wnove7K-ZQ?si=fMOTc2L9LRMQ5n8G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|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ython in 100 days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https://stackoverflow.com/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openai.com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/index/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chatgpt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9D4EB-9CEF-7D30-A8C4-43F84C9BC9FE}"/>
              </a:ext>
            </a:extLst>
          </p:cNvPr>
          <p:cNvSpPr txBox="1"/>
          <p:nvPr/>
        </p:nvSpPr>
        <p:spPr>
          <a:xfrm>
            <a:off x="2039039" y="6232516"/>
            <a:ext cx="7312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All the content required for the course will be uploaded on Moodle</a:t>
            </a:r>
          </a:p>
        </p:txBody>
      </p:sp>
    </p:spTree>
    <p:extLst>
      <p:ext uri="{BB962C8B-B14F-4D97-AF65-F5344CB8AC3E}">
        <p14:creationId xmlns:p14="http://schemas.microsoft.com/office/powerpoint/2010/main" val="2252531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2748FB1-C3F4-0405-EA03-11FC4D494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03" y="571500"/>
            <a:ext cx="5461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You should switch to Python : r/ProgrammerHumor">
            <a:extLst>
              <a:ext uri="{FF2B5EF4-FFF2-40B4-BE49-F238E27FC236}">
                <a16:creationId xmlns:a16="http://schemas.microsoft.com/office/drawing/2014/main" id="{7D54915D-09DB-F3B0-B92E-75397256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787" y="411044"/>
            <a:ext cx="4706957" cy="569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116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810E8-1F1E-DE51-0581-1399ED6F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6E91DB-2106-1159-E720-025695503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2440"/>
            <a:ext cx="7772400" cy="435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2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A02C9F-795E-6701-0991-0E4E00CF8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19" y="1145755"/>
            <a:ext cx="8428026" cy="523862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4BC1B9B-0CBE-4A9A-471A-89EA07A2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296841"/>
            <a:ext cx="10515600" cy="1325563"/>
          </a:xfrm>
        </p:spPr>
        <p:txBody>
          <a:bodyPr/>
          <a:lstStyle/>
          <a:p>
            <a:r>
              <a:rPr lang="en-US" dirty="0"/>
              <a:t>Anaconda Installation</a:t>
            </a:r>
          </a:p>
        </p:txBody>
      </p:sp>
    </p:spTree>
    <p:extLst>
      <p:ext uri="{BB962C8B-B14F-4D97-AF65-F5344CB8AC3E}">
        <p14:creationId xmlns:p14="http://schemas.microsoft.com/office/powerpoint/2010/main" val="141464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69628C-34A4-BE30-1547-6694B934F590}"/>
              </a:ext>
            </a:extLst>
          </p:cNvPr>
          <p:cNvSpPr txBox="1"/>
          <p:nvPr/>
        </p:nvSpPr>
        <p:spPr>
          <a:xfrm>
            <a:off x="2724398" y="594910"/>
            <a:ext cx="61563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Let’s do some Coding</a:t>
            </a:r>
          </a:p>
        </p:txBody>
      </p:sp>
      <p:pic>
        <p:nvPicPr>
          <p:cNvPr id="2050" name="Picture 2" descr="The best Python memes :) Memedroid">
            <a:extLst>
              <a:ext uri="{FF2B5EF4-FFF2-40B4-BE49-F238E27FC236}">
                <a16:creationId xmlns:a16="http://schemas.microsoft.com/office/drawing/2014/main" id="{7694D393-E485-6504-2CEF-BA50E476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333" y="2267247"/>
            <a:ext cx="4012492" cy="399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2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3654</TotalTime>
  <Words>616</Words>
  <Application>Microsoft Macintosh PowerPoint</Application>
  <PresentationFormat>Widescreen</PresentationFormat>
  <Paragraphs>107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MLL213: Materials Modelling</vt:lpstr>
      <vt:lpstr>Why should we care for materials modelling?</vt:lpstr>
      <vt:lpstr>What will you get out of this course?</vt:lpstr>
      <vt:lpstr>Topics Covered</vt:lpstr>
      <vt:lpstr>Class schedule</vt:lpstr>
      <vt:lpstr>Course Policy</vt:lpstr>
      <vt:lpstr>PowerPoint Presentation</vt:lpstr>
      <vt:lpstr>Term Project</vt:lpstr>
      <vt:lpstr>Previous Class Reviews!!!</vt:lpstr>
      <vt:lpstr>Previous Class Reviews!!!</vt:lpstr>
      <vt:lpstr>Reference books and links</vt:lpstr>
      <vt:lpstr>PowerPoint Presentation</vt:lpstr>
      <vt:lpstr>Python</vt:lpstr>
      <vt:lpstr>Anaconda Installation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MLL730: Diffusion and Kinetics</dc:title>
  <dc:creator>Gunda, Naga Sri Harsha</dc:creator>
  <cp:lastModifiedBy>Gunda Naga Sri Harsha</cp:lastModifiedBy>
  <cp:revision>94</cp:revision>
  <dcterms:created xsi:type="dcterms:W3CDTF">2024-01-03T03:25:03Z</dcterms:created>
  <dcterms:modified xsi:type="dcterms:W3CDTF">2025-07-29T06:27:16Z</dcterms:modified>
</cp:coreProperties>
</file>